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Gatwick Ultra-Bold" charset="1" panose="00000900000000000000"/>
      <p:regular r:id="rId28"/>
    </p:embeddedFont>
    <p:embeddedFont>
      <p:font typeface="Codec Pro Ultra-Bold" charset="1" panose="00000700000000000000"/>
      <p:regular r:id="rId29"/>
    </p:embeddedFont>
    <p:embeddedFont>
      <p:font typeface="Codec Pro" charset="1" panose="00000500000000000000"/>
      <p:regular r:id="rId30"/>
    </p:embeddedFont>
    <p:embeddedFont>
      <p:font typeface="Gatwick Bold" charset="1" panose="00000800000000000000"/>
      <p:regular r:id="rId31"/>
    </p:embeddedFont>
    <p:embeddedFont>
      <p:font typeface="Georgia Pro Condensed" charset="1" panose="02040506050405020303"/>
      <p:regular r:id="rId32"/>
    </p:embeddedFont>
    <p:embeddedFont>
      <p:font typeface="Helvetica World Bold" charset="1" panose="020B0800040000020004"/>
      <p:regular r:id="rId33"/>
    </p:embeddedFont>
    <p:embeddedFont>
      <p:font typeface="Helvetica World" charset="1" panose="020B0500040000020004"/>
      <p:regular r:id="rId34"/>
    </p:embeddedFont>
    <p:embeddedFont>
      <p:font typeface="Gatwick" charset="1" panose="00000500000000000000"/>
      <p:regular r:id="rId35"/>
    </p:embeddedFont>
    <p:embeddedFont>
      <p:font typeface="Codec Pro Bold" charset="1" panose="000006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embeddings/oleObject1.bin" Type="http://schemas.openxmlformats.org/officeDocument/2006/relationships/oleObjec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557A46"/>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0E2B6"/>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8CB369"/>
            </a:solidFill>
          </p:spPr>
        </p:sp>
      </p:grpSp>
      <p:grpSp>
        <p:nvGrpSpPr>
          <p:cNvPr name="Group 5" id="5"/>
          <p:cNvGrpSpPr/>
          <p:nvPr/>
        </p:nvGrpSpPr>
        <p:grpSpPr>
          <a:xfrm rot="0">
            <a:off x="10095507" y="1171470"/>
            <a:ext cx="6898579" cy="7848810"/>
            <a:chOff x="0" y="0"/>
            <a:chExt cx="1078972" cy="1227593"/>
          </a:xfrm>
        </p:grpSpPr>
        <p:sp>
          <p:nvSpPr>
            <p:cNvPr name="Freeform 6" id="6"/>
            <p:cNvSpPr/>
            <p:nvPr/>
          </p:nvSpPr>
          <p:spPr>
            <a:xfrm flipH="false" flipV="false" rot="0">
              <a:off x="0" y="0"/>
              <a:ext cx="1078972" cy="1227593"/>
            </a:xfrm>
            <a:custGeom>
              <a:avLst/>
              <a:gdLst/>
              <a:ahLst/>
              <a:cxnLst/>
              <a:rect r="r" b="b" t="t" l="l"/>
              <a:pathLst>
                <a:path h="1227593" w="1078972">
                  <a:moveTo>
                    <a:pt x="56112" y="0"/>
                  </a:moveTo>
                  <a:lnTo>
                    <a:pt x="1022860" y="0"/>
                  </a:lnTo>
                  <a:cubicBezTo>
                    <a:pt x="1053850" y="0"/>
                    <a:pt x="1078972" y="25122"/>
                    <a:pt x="1078972" y="56112"/>
                  </a:cubicBezTo>
                  <a:lnTo>
                    <a:pt x="1078972" y="1171481"/>
                  </a:lnTo>
                  <a:cubicBezTo>
                    <a:pt x="1078972" y="1202471"/>
                    <a:pt x="1053850" y="1227593"/>
                    <a:pt x="1022860" y="1227593"/>
                  </a:cubicBezTo>
                  <a:lnTo>
                    <a:pt x="56112" y="1227593"/>
                  </a:lnTo>
                  <a:cubicBezTo>
                    <a:pt x="25122" y="1227593"/>
                    <a:pt x="0" y="1202471"/>
                    <a:pt x="0" y="1171481"/>
                  </a:cubicBezTo>
                  <a:lnTo>
                    <a:pt x="0" y="56112"/>
                  </a:lnTo>
                  <a:cubicBezTo>
                    <a:pt x="0" y="25122"/>
                    <a:pt x="25122" y="0"/>
                    <a:pt x="56112" y="0"/>
                  </a:cubicBezTo>
                  <a:close/>
                </a:path>
              </a:pathLst>
            </a:custGeom>
            <a:blipFill>
              <a:blip r:embed="rId2"/>
              <a:stretch>
                <a:fillRect l="0" t="-296" r="0" b="-296"/>
              </a:stretch>
            </a:blipFill>
            <a:ln w="38100" cap="rnd">
              <a:solidFill>
                <a:srgbClr val="000000"/>
              </a:solidFill>
              <a:prstDash val="solid"/>
              <a:round/>
            </a:ln>
          </p:spPr>
        </p:sp>
      </p:grpSp>
      <p:sp>
        <p:nvSpPr>
          <p:cNvPr name="TextBox 7" id="7"/>
          <p:cNvSpPr txBox="true"/>
          <p:nvPr/>
        </p:nvSpPr>
        <p:spPr>
          <a:xfrm rot="0">
            <a:off x="1800225" y="3233758"/>
            <a:ext cx="7496175" cy="3476625"/>
          </a:xfrm>
          <a:prstGeom prst="rect">
            <a:avLst/>
          </a:prstGeom>
        </p:spPr>
        <p:txBody>
          <a:bodyPr anchor="t" rtlCol="false" tIns="0" lIns="0" bIns="0" rIns="0">
            <a:spAutoFit/>
          </a:bodyPr>
          <a:lstStyle/>
          <a:p>
            <a:pPr algn="ctr" marL="0" indent="0" lvl="0">
              <a:lnSpc>
                <a:spcPts val="8999"/>
              </a:lnSpc>
            </a:pPr>
            <a:r>
              <a:rPr lang="en-US" b="true" sz="7499" spc="-187">
                <a:solidFill>
                  <a:srgbClr val="557A46"/>
                </a:solidFill>
                <a:latin typeface="Gatwick Ultra-Bold"/>
                <a:ea typeface="Gatwick Ultra-Bold"/>
                <a:cs typeface="Gatwick Ultra-Bold"/>
                <a:sym typeface="Gatwick Ultra-Bold"/>
              </a:rPr>
              <a:t>Customer Personality Analysis</a:t>
            </a:r>
          </a:p>
        </p:txBody>
      </p:sp>
      <p:sp>
        <p:nvSpPr>
          <p:cNvPr name="TextBox 8" id="8"/>
          <p:cNvSpPr txBox="true"/>
          <p:nvPr/>
        </p:nvSpPr>
        <p:spPr>
          <a:xfrm rot="0">
            <a:off x="1800225" y="1504950"/>
            <a:ext cx="7496175" cy="477520"/>
          </a:xfrm>
          <a:prstGeom prst="rect">
            <a:avLst/>
          </a:prstGeom>
        </p:spPr>
        <p:txBody>
          <a:bodyPr anchor="t" rtlCol="false" tIns="0" lIns="0" bIns="0" rIns="0">
            <a:spAutoFit/>
          </a:bodyPr>
          <a:lstStyle/>
          <a:p>
            <a:pPr algn="ctr" marL="0" indent="0" lvl="0">
              <a:lnSpc>
                <a:spcPts val="3499"/>
              </a:lnSpc>
              <a:spcBef>
                <a:spcPct val="0"/>
              </a:spcBef>
            </a:pPr>
            <a:r>
              <a:rPr lang="en-US" b="true" sz="2799">
                <a:solidFill>
                  <a:srgbClr val="405931"/>
                </a:solidFill>
                <a:latin typeface="Codec Pro Ultra-Bold"/>
                <a:ea typeface="Codec Pro Ultra-Bold"/>
                <a:cs typeface="Codec Pro Ultra-Bold"/>
                <a:sym typeface="Codec Pro Ultra-Bold"/>
              </a:rPr>
              <a:t>UNDERSTANDING CUSTOMERS BETTER</a:t>
            </a:r>
          </a:p>
        </p:txBody>
      </p:sp>
      <p:sp>
        <p:nvSpPr>
          <p:cNvPr name="TextBox 9" id="9"/>
          <p:cNvSpPr txBox="true"/>
          <p:nvPr/>
        </p:nvSpPr>
        <p:spPr>
          <a:xfrm rot="0">
            <a:off x="1800225" y="8247380"/>
            <a:ext cx="7496175" cy="477520"/>
          </a:xfrm>
          <a:prstGeom prst="rect">
            <a:avLst/>
          </a:prstGeom>
        </p:spPr>
        <p:txBody>
          <a:bodyPr anchor="t" rtlCol="false" tIns="0" lIns="0" bIns="0" rIns="0">
            <a:spAutoFit/>
          </a:bodyPr>
          <a:lstStyle/>
          <a:p>
            <a:pPr algn="ctr" marL="0" indent="0" lvl="0">
              <a:lnSpc>
                <a:spcPts val="3499"/>
              </a:lnSpc>
              <a:spcBef>
                <a:spcPct val="0"/>
              </a:spcBef>
            </a:pPr>
            <a:r>
              <a:rPr lang="en-US" b="true" sz="2799">
                <a:solidFill>
                  <a:srgbClr val="405931"/>
                </a:solidFill>
                <a:latin typeface="Codec Pro Ultra-Bold"/>
                <a:ea typeface="Codec Pro Ultra-Bold"/>
                <a:cs typeface="Codec Pro Ultra-Bold"/>
                <a:sym typeface="Codec Pro Ultra-Bold"/>
              </a:rPr>
              <a:t>Presented by Yasmeen</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8CB36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0E2B6"/>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557A46"/>
            </a:solidFill>
          </p:spPr>
        </p:sp>
      </p:grpSp>
      <p:grpSp>
        <p:nvGrpSpPr>
          <p:cNvPr name="Group 5" id="5"/>
          <p:cNvGrpSpPr/>
          <p:nvPr/>
        </p:nvGrpSpPr>
        <p:grpSpPr>
          <a:xfrm rot="0">
            <a:off x="6909150" y="1562100"/>
            <a:ext cx="9578625" cy="5875522"/>
            <a:chOff x="0" y="0"/>
            <a:chExt cx="2522765" cy="1547463"/>
          </a:xfrm>
        </p:grpSpPr>
        <p:sp>
          <p:nvSpPr>
            <p:cNvPr name="Freeform 6" id="6"/>
            <p:cNvSpPr/>
            <p:nvPr/>
          </p:nvSpPr>
          <p:spPr>
            <a:xfrm flipH="false" flipV="false" rot="0">
              <a:off x="0" y="0"/>
              <a:ext cx="2522765" cy="1547463"/>
            </a:xfrm>
            <a:custGeom>
              <a:avLst/>
              <a:gdLst/>
              <a:ahLst/>
              <a:cxnLst/>
              <a:rect r="r" b="b" t="t" l="l"/>
              <a:pathLst>
                <a:path h="1547463" w="2522765">
                  <a:moveTo>
                    <a:pt x="40412" y="0"/>
                  </a:moveTo>
                  <a:lnTo>
                    <a:pt x="2482353" y="0"/>
                  </a:lnTo>
                  <a:cubicBezTo>
                    <a:pt x="2493071" y="0"/>
                    <a:pt x="2503350" y="4258"/>
                    <a:pt x="2510929" y="11837"/>
                  </a:cubicBezTo>
                  <a:cubicBezTo>
                    <a:pt x="2518508" y="19415"/>
                    <a:pt x="2522765" y="29694"/>
                    <a:pt x="2522765" y="40412"/>
                  </a:cubicBezTo>
                  <a:lnTo>
                    <a:pt x="2522765" y="1507050"/>
                  </a:lnTo>
                  <a:cubicBezTo>
                    <a:pt x="2522765" y="1517768"/>
                    <a:pt x="2518508" y="1528047"/>
                    <a:pt x="2510929" y="1535626"/>
                  </a:cubicBezTo>
                  <a:cubicBezTo>
                    <a:pt x="2503350" y="1543205"/>
                    <a:pt x="2493071" y="1547463"/>
                    <a:pt x="2482353" y="1547463"/>
                  </a:cubicBezTo>
                  <a:lnTo>
                    <a:pt x="40412" y="1547463"/>
                  </a:lnTo>
                  <a:cubicBezTo>
                    <a:pt x="29694" y="1547463"/>
                    <a:pt x="19415" y="1543205"/>
                    <a:pt x="11837" y="1535626"/>
                  </a:cubicBezTo>
                  <a:cubicBezTo>
                    <a:pt x="4258" y="1528047"/>
                    <a:pt x="0" y="1517768"/>
                    <a:pt x="0" y="1507050"/>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2522765" cy="1614138"/>
            </a:xfrm>
            <a:prstGeom prst="rect">
              <a:avLst/>
            </a:prstGeom>
          </p:spPr>
          <p:txBody>
            <a:bodyPr anchor="ctr" rtlCol="false" tIns="127000" lIns="127000" bIns="127000" rIns="127000"/>
            <a:lstStyle/>
            <a:p>
              <a:pPr algn="ctr" marL="0" indent="0" lvl="0">
                <a:lnSpc>
                  <a:spcPts val="3120"/>
                </a:lnSpc>
              </a:pPr>
            </a:p>
          </p:txBody>
        </p:sp>
      </p:grpSp>
      <p:sp>
        <p:nvSpPr>
          <p:cNvPr name="TextBox 8" id="8"/>
          <p:cNvSpPr txBox="true"/>
          <p:nvPr/>
        </p:nvSpPr>
        <p:spPr>
          <a:xfrm rot="0">
            <a:off x="2105025" y="3819525"/>
            <a:ext cx="4010025" cy="2600325"/>
          </a:xfrm>
          <a:prstGeom prst="rect">
            <a:avLst/>
          </a:prstGeom>
        </p:spPr>
        <p:txBody>
          <a:bodyPr anchor="t" rtlCol="false" tIns="0" lIns="0" bIns="0" rIns="0">
            <a:spAutoFit/>
          </a:bodyPr>
          <a:lstStyle/>
          <a:p>
            <a:pPr algn="ctr" marL="0" indent="0" lvl="0">
              <a:lnSpc>
                <a:spcPts val="5040"/>
              </a:lnSpc>
            </a:pPr>
            <a:r>
              <a:rPr lang="en-US" b="true" sz="4200" spc="-105">
                <a:solidFill>
                  <a:srgbClr val="405931"/>
                </a:solidFill>
                <a:latin typeface="Gatwick Ultra-Bold"/>
                <a:ea typeface="Gatwick Ultra-Bold"/>
                <a:cs typeface="Gatwick Ultra-Bold"/>
                <a:sym typeface="Gatwick Ultra-Bold"/>
              </a:rPr>
              <a:t>Introduction to Customer Analysis</a:t>
            </a:r>
          </a:p>
        </p:txBody>
      </p:sp>
      <p:sp>
        <p:nvSpPr>
          <p:cNvPr name="TextBox 9" id="9"/>
          <p:cNvSpPr txBox="true"/>
          <p:nvPr/>
        </p:nvSpPr>
        <p:spPr>
          <a:xfrm rot="0">
            <a:off x="7374999" y="3439543"/>
            <a:ext cx="8646926" cy="2436943"/>
          </a:xfrm>
          <a:prstGeom prst="rect">
            <a:avLst/>
          </a:prstGeom>
        </p:spPr>
        <p:txBody>
          <a:bodyPr anchor="t" rtlCol="false" tIns="0" lIns="0" bIns="0" rIns="0">
            <a:spAutoFit/>
          </a:bodyPr>
          <a:lstStyle/>
          <a:p>
            <a:pPr algn="ctr" marL="0" indent="0" lvl="0">
              <a:lnSpc>
                <a:spcPts val="3197"/>
              </a:lnSpc>
            </a:pPr>
            <a:r>
              <a:rPr lang="en-US" sz="2459">
                <a:solidFill>
                  <a:srgbClr val="405931"/>
                </a:solidFill>
                <a:latin typeface="Codec Pro"/>
                <a:ea typeface="Codec Pro"/>
                <a:cs typeface="Codec Pro"/>
                <a:sym typeface="Codec Pro"/>
              </a:rPr>
              <a:t>Customer Personality Analysis is an essential tool that helps businesses understand their ideal customers on a deeper level. By leveraging this analysis, companies can tailor products and marketing strategies, ultimately enhancing customer satisfaction and driving loyalty through data-informed decisions.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557A46"/>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0E2B6"/>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8CB369"/>
            </a:solidFill>
          </p:spPr>
        </p:sp>
      </p:grpSp>
      <p:grpSp>
        <p:nvGrpSpPr>
          <p:cNvPr name="Group 5" id="5"/>
          <p:cNvGrpSpPr/>
          <p:nvPr/>
        </p:nvGrpSpPr>
        <p:grpSpPr>
          <a:xfrm rot="0">
            <a:off x="1028700" y="5277244"/>
            <a:ext cx="7496175" cy="3447656"/>
            <a:chOff x="0" y="0"/>
            <a:chExt cx="1055195" cy="485308"/>
          </a:xfrm>
        </p:grpSpPr>
        <p:sp>
          <p:nvSpPr>
            <p:cNvPr name="Freeform 6" id="6"/>
            <p:cNvSpPr/>
            <p:nvPr/>
          </p:nvSpPr>
          <p:spPr>
            <a:xfrm flipH="false" flipV="false" rot="0">
              <a:off x="0" y="0"/>
              <a:ext cx="1055195" cy="485308"/>
            </a:xfrm>
            <a:custGeom>
              <a:avLst/>
              <a:gdLst/>
              <a:ahLst/>
              <a:cxnLst/>
              <a:rect r="r" b="b" t="t" l="l"/>
              <a:pathLst>
                <a:path h="485308" w="1055195">
                  <a:moveTo>
                    <a:pt x="51639" y="0"/>
                  </a:moveTo>
                  <a:lnTo>
                    <a:pt x="1003556" y="0"/>
                  </a:lnTo>
                  <a:cubicBezTo>
                    <a:pt x="1017252" y="0"/>
                    <a:pt x="1030386" y="5441"/>
                    <a:pt x="1040071" y="15125"/>
                  </a:cubicBezTo>
                  <a:cubicBezTo>
                    <a:pt x="1049755" y="24809"/>
                    <a:pt x="1055195" y="37944"/>
                    <a:pt x="1055195" y="51639"/>
                  </a:cubicBezTo>
                  <a:lnTo>
                    <a:pt x="1055195" y="433668"/>
                  </a:lnTo>
                  <a:cubicBezTo>
                    <a:pt x="1055195" y="462188"/>
                    <a:pt x="1032076" y="485308"/>
                    <a:pt x="1003556" y="485308"/>
                  </a:cubicBezTo>
                  <a:lnTo>
                    <a:pt x="51639" y="485308"/>
                  </a:lnTo>
                  <a:cubicBezTo>
                    <a:pt x="23120" y="485308"/>
                    <a:pt x="0" y="462188"/>
                    <a:pt x="0" y="433668"/>
                  </a:cubicBezTo>
                  <a:lnTo>
                    <a:pt x="0" y="51639"/>
                  </a:lnTo>
                  <a:cubicBezTo>
                    <a:pt x="0" y="23120"/>
                    <a:pt x="23120" y="0"/>
                    <a:pt x="51639" y="0"/>
                  </a:cubicBezTo>
                  <a:close/>
                </a:path>
              </a:pathLst>
            </a:custGeom>
            <a:blipFill>
              <a:blip r:embed="rId2"/>
              <a:stretch>
                <a:fillRect l="-402" t="0" r="-402" b="0"/>
              </a:stretch>
            </a:blipFill>
            <a:ln w="38100" cap="rnd">
              <a:solidFill>
                <a:srgbClr val="000000"/>
              </a:solidFill>
              <a:prstDash val="solid"/>
              <a:round/>
            </a:ln>
          </p:spPr>
        </p:sp>
      </p:grpSp>
      <p:grpSp>
        <p:nvGrpSpPr>
          <p:cNvPr name="Group 7" id="7"/>
          <p:cNvGrpSpPr/>
          <p:nvPr/>
        </p:nvGrpSpPr>
        <p:grpSpPr>
          <a:xfrm rot="0">
            <a:off x="1249575" y="1028700"/>
            <a:ext cx="6057900" cy="3920490"/>
            <a:chOff x="0" y="0"/>
            <a:chExt cx="8077200" cy="5227320"/>
          </a:xfrm>
        </p:grpSpPr>
        <p:sp>
          <p:nvSpPr>
            <p:cNvPr name="TextBox 8" id="8"/>
            <p:cNvSpPr txBox="true"/>
            <p:nvPr/>
          </p:nvSpPr>
          <p:spPr>
            <a:xfrm rot="0">
              <a:off x="0" y="3118485"/>
              <a:ext cx="8077200" cy="2108835"/>
            </a:xfrm>
            <a:prstGeom prst="rect">
              <a:avLst/>
            </a:prstGeom>
          </p:spPr>
          <p:txBody>
            <a:bodyPr anchor="t" rtlCol="false" tIns="0" lIns="0" bIns="0" rIns="0">
              <a:spAutoFit/>
            </a:bodyPr>
            <a:lstStyle/>
            <a:p>
              <a:pPr algn="ctr" marL="0" indent="0" lvl="0">
                <a:lnSpc>
                  <a:spcPts val="3120"/>
                </a:lnSpc>
              </a:pPr>
              <a:r>
                <a:rPr lang="en-US" sz="2400">
                  <a:solidFill>
                    <a:srgbClr val="405931"/>
                  </a:solidFill>
                  <a:latin typeface="Codec Pro"/>
                  <a:ea typeface="Codec Pro"/>
                  <a:cs typeface="Codec Pro"/>
                  <a:sym typeface="Codec Pro"/>
                </a:rPr>
                <a:t>Clean data is essential for accurate insights, ensuring that the analysis reflects true customer behavior and preferences.</a:t>
              </a:r>
            </a:p>
          </p:txBody>
        </p:sp>
        <p:sp>
          <p:nvSpPr>
            <p:cNvPr name="TextBox 9" id="9"/>
            <p:cNvSpPr txBox="true"/>
            <p:nvPr/>
          </p:nvSpPr>
          <p:spPr>
            <a:xfrm rot="0">
              <a:off x="0" y="2524125"/>
              <a:ext cx="8077200" cy="559435"/>
            </a:xfrm>
            <a:prstGeom prst="rect">
              <a:avLst/>
            </a:prstGeom>
          </p:spPr>
          <p:txBody>
            <a:bodyPr anchor="t" rtlCol="false" tIns="0" lIns="0" bIns="0" rIns="0">
              <a:spAutoFit/>
            </a:bodyPr>
            <a:lstStyle/>
            <a:p>
              <a:pPr algn="ctr" marL="0" indent="0" lvl="0">
                <a:lnSpc>
                  <a:spcPts val="3120"/>
                </a:lnSpc>
              </a:pPr>
              <a:r>
                <a:rPr lang="en-US" b="true" sz="2400">
                  <a:solidFill>
                    <a:srgbClr val="405931"/>
                  </a:solidFill>
                  <a:latin typeface="Codec Pro Ultra-Bold"/>
                  <a:ea typeface="Codec Pro Ultra-Bold"/>
                  <a:cs typeface="Codec Pro Ultra-Bold"/>
                  <a:sym typeface="Codec Pro Ultra-Bold"/>
                </a:rPr>
                <a:t>Preparing Raw Data for Analysis</a:t>
              </a:r>
            </a:p>
          </p:txBody>
        </p:sp>
        <p:sp>
          <p:nvSpPr>
            <p:cNvPr name="TextBox 10" id="10"/>
            <p:cNvSpPr txBox="true"/>
            <p:nvPr/>
          </p:nvSpPr>
          <p:spPr>
            <a:xfrm rot="0">
              <a:off x="0" y="-57150"/>
              <a:ext cx="8077200" cy="2241550"/>
            </a:xfrm>
            <a:prstGeom prst="rect">
              <a:avLst/>
            </a:prstGeom>
          </p:spPr>
          <p:txBody>
            <a:bodyPr anchor="t" rtlCol="false" tIns="0" lIns="0" bIns="0" rIns="0">
              <a:spAutoFit/>
            </a:bodyPr>
            <a:lstStyle/>
            <a:p>
              <a:pPr algn="ctr" marL="0" indent="0" lvl="0">
                <a:lnSpc>
                  <a:spcPts val="6480"/>
                </a:lnSpc>
              </a:pPr>
              <a:r>
                <a:rPr lang="en-US" b="true" sz="5400" spc="-135">
                  <a:solidFill>
                    <a:srgbClr val="557A46"/>
                  </a:solidFill>
                  <a:latin typeface="Gatwick Ultra-Bold"/>
                  <a:ea typeface="Gatwick Ultra-Bold"/>
                  <a:cs typeface="Gatwick Ultra-Bold"/>
                  <a:sym typeface="Gatwick Ultra-Bold"/>
                </a:rPr>
                <a:t>Data Cleaning Process</a:t>
              </a:r>
            </a:p>
          </p:txBody>
        </p:sp>
      </p:grpSp>
      <p:sp>
        <p:nvSpPr>
          <p:cNvPr name="TextBox 11" id="11"/>
          <p:cNvSpPr txBox="true"/>
          <p:nvPr/>
        </p:nvSpPr>
        <p:spPr>
          <a:xfrm rot="0">
            <a:off x="8938147" y="1797525"/>
            <a:ext cx="8321153" cy="1695450"/>
          </a:xfrm>
          <a:prstGeom prst="rect">
            <a:avLst/>
          </a:prstGeom>
        </p:spPr>
        <p:txBody>
          <a:bodyPr anchor="t" rtlCol="false" tIns="0" lIns="0" bIns="0" rIns="0">
            <a:spAutoFit/>
          </a:bodyPr>
          <a:lstStyle/>
          <a:p>
            <a:pPr algn="ctr" marL="0" indent="0" lvl="0">
              <a:lnSpc>
                <a:spcPts val="6480"/>
              </a:lnSpc>
            </a:pPr>
            <a:r>
              <a:rPr lang="en-US" b="true" sz="5400" spc="-135">
                <a:solidFill>
                  <a:srgbClr val="557A46"/>
                </a:solidFill>
                <a:latin typeface="Gatwick Ultra-Bold"/>
                <a:ea typeface="Gatwick Ultra-Bold"/>
                <a:cs typeface="Gatwick Ultra-Bold"/>
                <a:sym typeface="Gatwick Ultra-Bold"/>
              </a:rPr>
              <a:t>Removal of Duplicate Entries</a:t>
            </a:r>
          </a:p>
        </p:txBody>
      </p:sp>
      <p:sp>
        <p:nvSpPr>
          <p:cNvPr name="TextBox 12" id="12"/>
          <p:cNvSpPr txBox="true"/>
          <p:nvPr/>
        </p:nvSpPr>
        <p:spPr>
          <a:xfrm rot="0">
            <a:off x="8850544" y="4400944"/>
            <a:ext cx="8496359" cy="1695450"/>
          </a:xfrm>
          <a:prstGeom prst="rect">
            <a:avLst/>
          </a:prstGeom>
        </p:spPr>
        <p:txBody>
          <a:bodyPr anchor="t" rtlCol="false" tIns="0" lIns="0" bIns="0" rIns="0">
            <a:spAutoFit/>
          </a:bodyPr>
          <a:lstStyle/>
          <a:p>
            <a:pPr algn="ctr" marL="0" indent="0" lvl="0">
              <a:lnSpc>
                <a:spcPts val="6480"/>
              </a:lnSpc>
            </a:pPr>
            <a:r>
              <a:rPr lang="en-US" b="true" sz="5400" spc="-135">
                <a:solidFill>
                  <a:srgbClr val="557A46"/>
                </a:solidFill>
                <a:latin typeface="Gatwick Ultra-Bold"/>
                <a:ea typeface="Gatwick Ultra-Bold"/>
                <a:cs typeface="Gatwick Ultra-Bold"/>
                <a:sym typeface="Gatwick Ultra-Bold"/>
              </a:rPr>
              <a:t>Handling Missing Values</a:t>
            </a:r>
          </a:p>
        </p:txBody>
      </p:sp>
      <p:sp>
        <p:nvSpPr>
          <p:cNvPr name="TextBox 13" id="13"/>
          <p:cNvSpPr txBox="true"/>
          <p:nvPr/>
        </p:nvSpPr>
        <p:spPr>
          <a:xfrm rot="0">
            <a:off x="9568386" y="6613153"/>
            <a:ext cx="7690914" cy="1695450"/>
          </a:xfrm>
          <a:prstGeom prst="rect">
            <a:avLst/>
          </a:prstGeom>
        </p:spPr>
        <p:txBody>
          <a:bodyPr anchor="t" rtlCol="false" tIns="0" lIns="0" bIns="0" rIns="0">
            <a:spAutoFit/>
          </a:bodyPr>
          <a:lstStyle/>
          <a:p>
            <a:pPr algn="ctr" marL="0" indent="0" lvl="0">
              <a:lnSpc>
                <a:spcPts val="6480"/>
              </a:lnSpc>
              <a:spcBef>
                <a:spcPct val="0"/>
              </a:spcBef>
            </a:pPr>
            <a:r>
              <a:rPr lang="en-US" b="true" sz="5400" spc="-81">
                <a:solidFill>
                  <a:srgbClr val="5A6A45"/>
                </a:solidFill>
                <a:latin typeface="Gatwick Bold"/>
                <a:ea typeface="Gatwick Bold"/>
                <a:cs typeface="Gatwick Bold"/>
                <a:sym typeface="Gatwick Bold"/>
              </a:rPr>
              <a:t>Text Standardization</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557A46"/>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0E2B6"/>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8CB369"/>
            </a:solidFill>
          </p:spPr>
        </p:sp>
      </p:grpSp>
      <p:sp>
        <p:nvSpPr>
          <p:cNvPr name="TextBox 5" id="5"/>
          <p:cNvSpPr txBox="true"/>
          <p:nvPr/>
        </p:nvSpPr>
        <p:spPr>
          <a:xfrm rot="0">
            <a:off x="3506680" y="828306"/>
            <a:ext cx="7814517" cy="876300"/>
          </a:xfrm>
          <a:prstGeom prst="rect">
            <a:avLst/>
          </a:prstGeom>
        </p:spPr>
        <p:txBody>
          <a:bodyPr anchor="t" rtlCol="false" tIns="0" lIns="0" bIns="0" rIns="0">
            <a:spAutoFit/>
          </a:bodyPr>
          <a:lstStyle/>
          <a:p>
            <a:pPr algn="ctr" marL="0" indent="0" lvl="0">
              <a:lnSpc>
                <a:spcPts val="6480"/>
              </a:lnSpc>
            </a:pPr>
            <a:r>
              <a:rPr lang="en-US" b="true" sz="5400" spc="-135">
                <a:solidFill>
                  <a:srgbClr val="405931"/>
                </a:solidFill>
                <a:latin typeface="Gatwick Ultra-Bold"/>
                <a:ea typeface="Gatwick Ultra-Bold"/>
                <a:cs typeface="Gatwick Ultra-Bold"/>
                <a:sym typeface="Gatwick Ultra-Bold"/>
              </a:rPr>
              <a:t>Derived Metrics</a:t>
            </a:r>
          </a:p>
        </p:txBody>
      </p:sp>
      <p:grpSp>
        <p:nvGrpSpPr>
          <p:cNvPr name="Group 6" id="6"/>
          <p:cNvGrpSpPr/>
          <p:nvPr/>
        </p:nvGrpSpPr>
        <p:grpSpPr>
          <a:xfrm rot="0">
            <a:off x="1534642" y="2572281"/>
            <a:ext cx="6886575" cy="2061210"/>
            <a:chOff x="0" y="0"/>
            <a:chExt cx="9182100" cy="2748280"/>
          </a:xfrm>
        </p:grpSpPr>
        <p:sp>
          <p:nvSpPr>
            <p:cNvPr name="TextBox 7" id="7"/>
            <p:cNvSpPr txBox="true"/>
            <p:nvPr/>
          </p:nvSpPr>
          <p:spPr>
            <a:xfrm rot="0">
              <a:off x="0" y="508635"/>
              <a:ext cx="9182100" cy="2239645"/>
            </a:xfrm>
            <a:prstGeom prst="rect">
              <a:avLst/>
            </a:prstGeom>
          </p:spPr>
          <p:txBody>
            <a:bodyPr anchor="t" rtlCol="false" tIns="0" lIns="0" bIns="0" rIns="0">
              <a:spAutoFit/>
            </a:bodyPr>
            <a:lstStyle/>
            <a:p>
              <a:pPr algn="l" marL="0" indent="0" lvl="0">
                <a:lnSpc>
                  <a:spcPts val="3359"/>
                </a:lnSpc>
              </a:pPr>
              <a:r>
                <a:rPr lang="en-US" sz="2400">
                  <a:solidFill>
                    <a:srgbClr val="405931"/>
                  </a:solidFill>
                  <a:latin typeface="Codec Pro"/>
                  <a:ea typeface="Codec Pro"/>
                  <a:cs typeface="Codec Pro"/>
                  <a:sym typeface="Codec Pro"/>
                </a:rPr>
                <a:t>The age of customers is calculated using the formula: Age = YEAR(TODAY()) - Year_Birth, providing a clear understanding of customer demographics and life stages.</a:t>
              </a:r>
            </a:p>
          </p:txBody>
        </p:sp>
        <p:sp>
          <p:nvSpPr>
            <p:cNvPr name="TextBox 8" id="8"/>
            <p:cNvSpPr txBox="true"/>
            <p:nvPr/>
          </p:nvSpPr>
          <p:spPr>
            <a:xfrm rot="0">
              <a:off x="0" y="-66675"/>
              <a:ext cx="9182100" cy="559435"/>
            </a:xfrm>
            <a:prstGeom prst="rect">
              <a:avLst/>
            </a:prstGeom>
          </p:spPr>
          <p:txBody>
            <a:bodyPr anchor="t" rtlCol="false" tIns="0" lIns="0" bIns="0" rIns="0">
              <a:spAutoFit/>
            </a:bodyPr>
            <a:lstStyle/>
            <a:p>
              <a:pPr algn="l" marL="0" indent="0" lvl="0">
                <a:lnSpc>
                  <a:spcPts val="3120"/>
                </a:lnSpc>
              </a:pPr>
              <a:r>
                <a:rPr lang="en-US" b="true" sz="2400">
                  <a:solidFill>
                    <a:srgbClr val="405931"/>
                  </a:solidFill>
                  <a:latin typeface="Codec Pro Ultra-Bold"/>
                  <a:ea typeface="Codec Pro Ultra-Bold"/>
                  <a:cs typeface="Codec Pro Ultra-Bold"/>
                  <a:sym typeface="Codec Pro Ultra-Bold"/>
                </a:rPr>
                <a:t>Age Calculation</a:t>
              </a:r>
            </a:p>
          </p:txBody>
        </p:sp>
      </p:grpSp>
      <p:grpSp>
        <p:nvGrpSpPr>
          <p:cNvPr name="Group 9" id="9"/>
          <p:cNvGrpSpPr/>
          <p:nvPr/>
        </p:nvGrpSpPr>
        <p:grpSpPr>
          <a:xfrm rot="0">
            <a:off x="9396518" y="2572281"/>
            <a:ext cx="6886575" cy="2061210"/>
            <a:chOff x="0" y="0"/>
            <a:chExt cx="9182100" cy="2748280"/>
          </a:xfrm>
        </p:grpSpPr>
        <p:sp>
          <p:nvSpPr>
            <p:cNvPr name="TextBox 10" id="10"/>
            <p:cNvSpPr txBox="true"/>
            <p:nvPr/>
          </p:nvSpPr>
          <p:spPr>
            <a:xfrm rot="0">
              <a:off x="0" y="508635"/>
              <a:ext cx="9182100" cy="2239645"/>
            </a:xfrm>
            <a:prstGeom prst="rect">
              <a:avLst/>
            </a:prstGeom>
          </p:spPr>
          <p:txBody>
            <a:bodyPr anchor="t" rtlCol="false" tIns="0" lIns="0" bIns="0" rIns="0">
              <a:spAutoFit/>
            </a:bodyPr>
            <a:lstStyle/>
            <a:p>
              <a:pPr algn="l" marL="0" indent="0" lvl="0">
                <a:lnSpc>
                  <a:spcPts val="3359"/>
                </a:lnSpc>
              </a:pPr>
              <a:r>
                <a:rPr lang="en-US" sz="2400">
                  <a:solidFill>
                    <a:srgbClr val="405931"/>
                  </a:solidFill>
                  <a:latin typeface="Codec Pro"/>
                  <a:ea typeface="Codec Pro"/>
                  <a:cs typeface="Codec Pro"/>
                  <a:sym typeface="Codec Pro"/>
                </a:rPr>
                <a:t>Customers are categorized into age groups (18–30, 31–45, 46–60, 60+) to facilitate targeted marketing strategies and product alignment with their specific needs and preferences.</a:t>
              </a:r>
            </a:p>
          </p:txBody>
        </p:sp>
        <p:sp>
          <p:nvSpPr>
            <p:cNvPr name="TextBox 11" id="11"/>
            <p:cNvSpPr txBox="true"/>
            <p:nvPr/>
          </p:nvSpPr>
          <p:spPr>
            <a:xfrm rot="0">
              <a:off x="0" y="-66675"/>
              <a:ext cx="9182100" cy="559435"/>
            </a:xfrm>
            <a:prstGeom prst="rect">
              <a:avLst/>
            </a:prstGeom>
          </p:spPr>
          <p:txBody>
            <a:bodyPr anchor="t" rtlCol="false" tIns="0" lIns="0" bIns="0" rIns="0">
              <a:spAutoFit/>
            </a:bodyPr>
            <a:lstStyle/>
            <a:p>
              <a:pPr algn="l" marL="0" indent="0" lvl="0">
                <a:lnSpc>
                  <a:spcPts val="3120"/>
                </a:lnSpc>
              </a:pPr>
              <a:r>
                <a:rPr lang="en-US" b="true" sz="2400">
                  <a:solidFill>
                    <a:srgbClr val="405931"/>
                  </a:solidFill>
                  <a:latin typeface="Codec Pro Ultra-Bold"/>
                  <a:ea typeface="Codec Pro Ultra-Bold"/>
                  <a:cs typeface="Codec Pro Ultra-Bold"/>
                  <a:sym typeface="Codec Pro Ultra-Bold"/>
                </a:rPr>
                <a:t>Age Grouping</a:t>
              </a:r>
            </a:p>
          </p:txBody>
        </p:sp>
      </p:grpSp>
      <p:grpSp>
        <p:nvGrpSpPr>
          <p:cNvPr name="Group 12" id="12"/>
          <p:cNvGrpSpPr/>
          <p:nvPr/>
        </p:nvGrpSpPr>
        <p:grpSpPr>
          <a:xfrm rot="0">
            <a:off x="1534642" y="5418825"/>
            <a:ext cx="6185747" cy="2480310"/>
            <a:chOff x="0" y="0"/>
            <a:chExt cx="8247663" cy="3307080"/>
          </a:xfrm>
        </p:grpSpPr>
        <p:sp>
          <p:nvSpPr>
            <p:cNvPr name="TextBox 13" id="13"/>
            <p:cNvSpPr txBox="true"/>
            <p:nvPr/>
          </p:nvSpPr>
          <p:spPr>
            <a:xfrm rot="0">
              <a:off x="0" y="508635"/>
              <a:ext cx="8247663" cy="2798445"/>
            </a:xfrm>
            <a:prstGeom prst="rect">
              <a:avLst/>
            </a:prstGeom>
          </p:spPr>
          <p:txBody>
            <a:bodyPr anchor="t" rtlCol="false" tIns="0" lIns="0" bIns="0" rIns="0">
              <a:spAutoFit/>
            </a:bodyPr>
            <a:lstStyle/>
            <a:p>
              <a:pPr algn="l" marL="0" indent="0" lvl="0">
                <a:lnSpc>
                  <a:spcPts val="3359"/>
                </a:lnSpc>
              </a:pPr>
              <a:r>
                <a:rPr lang="en-US" sz="2400">
                  <a:solidFill>
                    <a:srgbClr val="405931"/>
                  </a:solidFill>
                  <a:latin typeface="Codec Pro"/>
                  <a:ea typeface="Codec Pro"/>
                  <a:cs typeface="Codec Pro"/>
                  <a:sym typeface="Codec Pro"/>
                </a:rPr>
                <a:t>Total Spending is calculated by summing individual product category expenditures, providing insight into overall customer purchasing habits and emphasizing key areas of revenue generation.</a:t>
              </a:r>
            </a:p>
          </p:txBody>
        </p:sp>
        <p:sp>
          <p:nvSpPr>
            <p:cNvPr name="TextBox 14" id="14"/>
            <p:cNvSpPr txBox="true"/>
            <p:nvPr/>
          </p:nvSpPr>
          <p:spPr>
            <a:xfrm rot="0">
              <a:off x="0" y="-66675"/>
              <a:ext cx="8247663" cy="559435"/>
            </a:xfrm>
            <a:prstGeom prst="rect">
              <a:avLst/>
            </a:prstGeom>
          </p:spPr>
          <p:txBody>
            <a:bodyPr anchor="t" rtlCol="false" tIns="0" lIns="0" bIns="0" rIns="0">
              <a:spAutoFit/>
            </a:bodyPr>
            <a:lstStyle/>
            <a:p>
              <a:pPr algn="l" marL="0" indent="0" lvl="0">
                <a:lnSpc>
                  <a:spcPts val="3120"/>
                </a:lnSpc>
              </a:pPr>
              <a:r>
                <a:rPr lang="en-US" b="true" sz="2400">
                  <a:solidFill>
                    <a:srgbClr val="729850"/>
                  </a:solidFill>
                  <a:latin typeface="Codec Pro Ultra-Bold"/>
                  <a:ea typeface="Codec Pro Ultra-Bold"/>
                  <a:cs typeface="Codec Pro Ultra-Bold"/>
                  <a:sym typeface="Codec Pro Ultra-Bold"/>
                </a:rPr>
                <a:t>Total Spending</a:t>
              </a:r>
            </a:p>
          </p:txBody>
        </p:sp>
      </p:grpSp>
      <p:grpSp>
        <p:nvGrpSpPr>
          <p:cNvPr name="Group 15" id="15"/>
          <p:cNvGrpSpPr/>
          <p:nvPr/>
        </p:nvGrpSpPr>
        <p:grpSpPr>
          <a:xfrm rot="0">
            <a:off x="9396518" y="5418825"/>
            <a:ext cx="6886575" cy="2480310"/>
            <a:chOff x="0" y="0"/>
            <a:chExt cx="9182100" cy="3307080"/>
          </a:xfrm>
        </p:grpSpPr>
        <p:sp>
          <p:nvSpPr>
            <p:cNvPr name="TextBox 16" id="16"/>
            <p:cNvSpPr txBox="true"/>
            <p:nvPr/>
          </p:nvSpPr>
          <p:spPr>
            <a:xfrm rot="0">
              <a:off x="0" y="508635"/>
              <a:ext cx="9182100" cy="2798445"/>
            </a:xfrm>
            <a:prstGeom prst="rect">
              <a:avLst/>
            </a:prstGeom>
          </p:spPr>
          <p:txBody>
            <a:bodyPr anchor="t" rtlCol="false" tIns="0" lIns="0" bIns="0" rIns="0">
              <a:spAutoFit/>
            </a:bodyPr>
            <a:lstStyle/>
            <a:p>
              <a:pPr algn="l" marL="0" indent="0" lvl="0">
                <a:lnSpc>
                  <a:spcPts val="3359"/>
                </a:lnSpc>
              </a:pPr>
              <a:r>
                <a:rPr lang="en-US" sz="2400">
                  <a:solidFill>
                    <a:srgbClr val="557A46"/>
                  </a:solidFill>
                  <a:latin typeface="Codec Pro"/>
                  <a:ea typeface="Codec Pro"/>
                  <a:cs typeface="Codec Pro"/>
                  <a:sym typeface="Codec Pro"/>
                </a:rPr>
                <a:t>The favorite product category is identified using advanced Excel formulas, helping businesses tailor marketing strategies to focus on high-demand items that resonate with customers.</a:t>
              </a:r>
            </a:p>
          </p:txBody>
        </p:sp>
        <p:sp>
          <p:nvSpPr>
            <p:cNvPr name="TextBox 17" id="17"/>
            <p:cNvSpPr txBox="true"/>
            <p:nvPr/>
          </p:nvSpPr>
          <p:spPr>
            <a:xfrm rot="0">
              <a:off x="0" y="-66675"/>
              <a:ext cx="9182100" cy="559435"/>
            </a:xfrm>
            <a:prstGeom prst="rect">
              <a:avLst/>
            </a:prstGeom>
          </p:spPr>
          <p:txBody>
            <a:bodyPr anchor="t" rtlCol="false" tIns="0" lIns="0" bIns="0" rIns="0">
              <a:spAutoFit/>
            </a:bodyPr>
            <a:lstStyle/>
            <a:p>
              <a:pPr algn="l" marL="0" indent="0" lvl="0">
                <a:lnSpc>
                  <a:spcPts val="3120"/>
                </a:lnSpc>
              </a:pPr>
              <a:r>
                <a:rPr lang="en-US" b="true" sz="2400">
                  <a:solidFill>
                    <a:srgbClr val="557A46"/>
                  </a:solidFill>
                  <a:latin typeface="Codec Pro Ultra-Bold"/>
                  <a:ea typeface="Codec Pro Ultra-Bold"/>
                  <a:cs typeface="Codec Pro Ultra-Bold"/>
                  <a:sym typeface="Codec Pro Ultra-Bold"/>
                </a:rPr>
                <a:t>Favorite Product Category</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2B88F"/>
        </a:solidFill>
      </p:bgPr>
    </p:bg>
    <p:spTree>
      <p:nvGrpSpPr>
        <p:cNvPr id="1" name=""/>
        <p:cNvGrpSpPr/>
        <p:nvPr/>
      </p:nvGrpSpPr>
      <p:grpSpPr>
        <a:xfrm>
          <a:off x="0" y="0"/>
          <a:ext cx="0" cy="0"/>
          <a:chOff x="0" y="0"/>
          <a:chExt cx="0" cy="0"/>
        </a:xfrm>
      </p:grpSpPr>
      <p:grpSp>
        <p:nvGrpSpPr>
          <p:cNvPr name="Group 2" id="2"/>
          <p:cNvGrpSpPr/>
          <p:nvPr/>
        </p:nvGrpSpPr>
        <p:grpSpPr>
          <a:xfrm rot="0">
            <a:off x="7914308" y="0"/>
            <a:ext cx="10555077" cy="10287000"/>
            <a:chOff x="0" y="0"/>
            <a:chExt cx="3569781" cy="3479116"/>
          </a:xfrm>
        </p:grpSpPr>
        <p:sp>
          <p:nvSpPr>
            <p:cNvPr name="Freeform 3" id="3"/>
            <p:cNvSpPr/>
            <p:nvPr/>
          </p:nvSpPr>
          <p:spPr>
            <a:xfrm flipH="false" flipV="false" rot="0">
              <a:off x="12700" y="12700"/>
              <a:ext cx="3505011" cy="3410536"/>
            </a:xfrm>
            <a:custGeom>
              <a:avLst/>
              <a:gdLst/>
              <a:ahLst/>
              <a:cxnLst/>
              <a:rect r="r" b="b" t="t" l="l"/>
              <a:pathLst>
                <a:path h="3410536" w="3505011">
                  <a:moveTo>
                    <a:pt x="146050" y="3410536"/>
                  </a:moveTo>
                  <a:lnTo>
                    <a:pt x="3358961" y="3410536"/>
                  </a:lnTo>
                  <a:cubicBezTo>
                    <a:pt x="3438971" y="3410536"/>
                    <a:pt x="3505011" y="3344496"/>
                    <a:pt x="3505011" y="3264486"/>
                  </a:cubicBezTo>
                  <a:lnTo>
                    <a:pt x="3505011" y="146050"/>
                  </a:lnTo>
                  <a:cubicBezTo>
                    <a:pt x="3505011" y="66040"/>
                    <a:pt x="3438971" y="0"/>
                    <a:pt x="3358961" y="0"/>
                  </a:cubicBezTo>
                  <a:lnTo>
                    <a:pt x="146050" y="0"/>
                  </a:lnTo>
                  <a:cubicBezTo>
                    <a:pt x="66040" y="0"/>
                    <a:pt x="0" y="66040"/>
                    <a:pt x="0" y="146050"/>
                  </a:cubicBezTo>
                  <a:lnTo>
                    <a:pt x="0" y="3264486"/>
                  </a:lnTo>
                  <a:cubicBezTo>
                    <a:pt x="0" y="3345766"/>
                    <a:pt x="66040" y="3410536"/>
                    <a:pt x="146050" y="3410536"/>
                  </a:cubicBezTo>
                  <a:close/>
                </a:path>
              </a:pathLst>
            </a:custGeom>
            <a:solidFill>
              <a:srgbClr val="D0E2B6"/>
            </a:solidFill>
          </p:spPr>
        </p:sp>
        <p:sp>
          <p:nvSpPr>
            <p:cNvPr name="Freeform 4" id="4"/>
            <p:cNvSpPr/>
            <p:nvPr/>
          </p:nvSpPr>
          <p:spPr>
            <a:xfrm flipH="false" flipV="false" rot="0">
              <a:off x="0" y="0"/>
              <a:ext cx="3569781" cy="3479116"/>
            </a:xfrm>
            <a:custGeom>
              <a:avLst/>
              <a:gdLst/>
              <a:ahLst/>
              <a:cxnLst/>
              <a:rect r="r" b="b" t="t" l="l"/>
              <a:pathLst>
                <a:path h="3479116" w="3569781">
                  <a:moveTo>
                    <a:pt x="3506281" y="74930"/>
                  </a:moveTo>
                  <a:cubicBezTo>
                    <a:pt x="3478341" y="30480"/>
                    <a:pt x="3428811" y="0"/>
                    <a:pt x="3371661" y="0"/>
                  </a:cubicBezTo>
                  <a:lnTo>
                    <a:pt x="158750" y="0"/>
                  </a:lnTo>
                  <a:cubicBezTo>
                    <a:pt x="71120" y="0"/>
                    <a:pt x="0" y="71120"/>
                    <a:pt x="0" y="158750"/>
                  </a:cubicBezTo>
                  <a:lnTo>
                    <a:pt x="0" y="3277186"/>
                  </a:lnTo>
                  <a:cubicBezTo>
                    <a:pt x="0" y="3329256"/>
                    <a:pt x="25400" y="3374976"/>
                    <a:pt x="63500" y="3404186"/>
                  </a:cubicBezTo>
                  <a:cubicBezTo>
                    <a:pt x="91440" y="3448636"/>
                    <a:pt x="140970" y="3479116"/>
                    <a:pt x="206895" y="3479116"/>
                  </a:cubicBezTo>
                  <a:lnTo>
                    <a:pt x="3411031" y="3479116"/>
                  </a:lnTo>
                  <a:cubicBezTo>
                    <a:pt x="3498661" y="3479116"/>
                    <a:pt x="3569781" y="3407996"/>
                    <a:pt x="3569781" y="3320366"/>
                  </a:cubicBezTo>
                  <a:lnTo>
                    <a:pt x="3569781" y="211264"/>
                  </a:lnTo>
                  <a:cubicBezTo>
                    <a:pt x="3569781" y="149860"/>
                    <a:pt x="3544381" y="104140"/>
                    <a:pt x="3506281" y="74930"/>
                  </a:cubicBezTo>
                  <a:close/>
                  <a:moveTo>
                    <a:pt x="12700" y="3277186"/>
                  </a:moveTo>
                  <a:lnTo>
                    <a:pt x="12700" y="158750"/>
                  </a:lnTo>
                  <a:cubicBezTo>
                    <a:pt x="12700" y="78740"/>
                    <a:pt x="78740" y="12700"/>
                    <a:pt x="158750" y="12700"/>
                  </a:cubicBezTo>
                  <a:lnTo>
                    <a:pt x="3371661" y="12700"/>
                  </a:lnTo>
                  <a:cubicBezTo>
                    <a:pt x="3451671" y="12700"/>
                    <a:pt x="3517711" y="78740"/>
                    <a:pt x="3517711" y="158750"/>
                  </a:cubicBezTo>
                  <a:lnTo>
                    <a:pt x="3517711" y="3277186"/>
                  </a:lnTo>
                  <a:cubicBezTo>
                    <a:pt x="3517711" y="3357196"/>
                    <a:pt x="3451671" y="3423236"/>
                    <a:pt x="3371661" y="3423236"/>
                  </a:cubicBezTo>
                  <a:lnTo>
                    <a:pt x="158750" y="3423236"/>
                  </a:lnTo>
                  <a:cubicBezTo>
                    <a:pt x="78740" y="3423236"/>
                    <a:pt x="12700" y="3358466"/>
                    <a:pt x="12700" y="3277186"/>
                  </a:cubicBezTo>
                  <a:close/>
                </a:path>
              </a:pathLst>
            </a:custGeom>
            <a:solidFill>
              <a:srgbClr val="557A46"/>
            </a:solidFill>
          </p:spPr>
        </p:sp>
      </p:grpSp>
      <p:grpSp>
        <p:nvGrpSpPr>
          <p:cNvPr name="Group 5" id="5"/>
          <p:cNvGrpSpPr/>
          <p:nvPr/>
        </p:nvGrpSpPr>
        <p:grpSpPr>
          <a:xfrm rot="0">
            <a:off x="0" y="0"/>
            <a:ext cx="8085046" cy="10287000"/>
            <a:chOff x="0" y="0"/>
            <a:chExt cx="2129395" cy="2709333"/>
          </a:xfrm>
        </p:grpSpPr>
        <p:sp>
          <p:nvSpPr>
            <p:cNvPr name="Freeform 6" id="6"/>
            <p:cNvSpPr/>
            <p:nvPr/>
          </p:nvSpPr>
          <p:spPr>
            <a:xfrm flipH="false" flipV="false" rot="0">
              <a:off x="0" y="0"/>
              <a:ext cx="2129395" cy="2709333"/>
            </a:xfrm>
            <a:custGeom>
              <a:avLst/>
              <a:gdLst/>
              <a:ahLst/>
              <a:cxnLst/>
              <a:rect r="r" b="b" t="t" l="l"/>
              <a:pathLst>
                <a:path h="2709333" w="2129395">
                  <a:moveTo>
                    <a:pt x="0" y="0"/>
                  </a:moveTo>
                  <a:lnTo>
                    <a:pt x="2129395" y="0"/>
                  </a:lnTo>
                  <a:lnTo>
                    <a:pt x="2129395" y="2709333"/>
                  </a:lnTo>
                  <a:lnTo>
                    <a:pt x="0" y="2709333"/>
                  </a:lnTo>
                  <a:close/>
                </a:path>
              </a:pathLst>
            </a:custGeom>
            <a:solidFill>
              <a:srgbClr val="D8D3CB"/>
            </a:solidFill>
            <a:ln cap="sq">
              <a:noFill/>
              <a:prstDash val="solid"/>
              <a:miter/>
            </a:ln>
          </p:spPr>
        </p:sp>
        <p:sp>
          <p:nvSpPr>
            <p:cNvPr name="TextBox 7" id="7"/>
            <p:cNvSpPr txBox="true"/>
            <p:nvPr/>
          </p:nvSpPr>
          <p:spPr>
            <a:xfrm>
              <a:off x="0" y="-38100"/>
              <a:ext cx="2129395" cy="2747433"/>
            </a:xfrm>
            <a:prstGeom prst="rect">
              <a:avLst/>
            </a:prstGeom>
          </p:spPr>
          <p:txBody>
            <a:bodyPr anchor="ctr" rtlCol="false" tIns="50800" lIns="50800" bIns="50800" rIns="50800"/>
            <a:lstStyle/>
            <a:p>
              <a:pPr algn="ctr">
                <a:lnSpc>
                  <a:spcPts val="3359"/>
                </a:lnSpc>
              </a:pPr>
            </a:p>
          </p:txBody>
        </p:sp>
      </p:grpSp>
      <p:sp>
        <p:nvSpPr>
          <p:cNvPr name="TextBox 8" id="8"/>
          <p:cNvSpPr txBox="true"/>
          <p:nvPr/>
        </p:nvSpPr>
        <p:spPr>
          <a:xfrm rot="0">
            <a:off x="1165973" y="2605318"/>
            <a:ext cx="5753100" cy="4492627"/>
          </a:xfrm>
          <a:prstGeom prst="rect">
            <a:avLst/>
          </a:prstGeom>
        </p:spPr>
        <p:txBody>
          <a:bodyPr anchor="t" rtlCol="false" tIns="0" lIns="0" bIns="0" rIns="0">
            <a:spAutoFit/>
          </a:bodyPr>
          <a:lstStyle/>
          <a:p>
            <a:pPr algn="l" marL="0" indent="0" lvl="0">
              <a:lnSpc>
                <a:spcPts val="8800"/>
              </a:lnSpc>
            </a:pPr>
            <a:r>
              <a:rPr lang="en-US" sz="8000" spc="-240">
                <a:solidFill>
                  <a:srgbClr val="5A6A45"/>
                </a:solidFill>
                <a:latin typeface="Georgia Pro Condensed"/>
                <a:ea typeface="Georgia Pro Condensed"/>
                <a:cs typeface="Georgia Pro Condensed"/>
                <a:sym typeface="Georgia Pro Condensed"/>
              </a:rPr>
              <a:t>Customer Segmentation for Targeted Insights</a:t>
            </a:r>
          </a:p>
        </p:txBody>
      </p:sp>
      <p:grpSp>
        <p:nvGrpSpPr>
          <p:cNvPr name="Group 9" id="9"/>
          <p:cNvGrpSpPr/>
          <p:nvPr/>
        </p:nvGrpSpPr>
        <p:grpSpPr>
          <a:xfrm rot="0">
            <a:off x="8751794" y="717177"/>
            <a:ext cx="4010025" cy="2340610"/>
            <a:chOff x="0" y="0"/>
            <a:chExt cx="1029283" cy="600782"/>
          </a:xfrm>
        </p:grpSpPr>
        <p:sp>
          <p:nvSpPr>
            <p:cNvPr name="Freeform 10" id="10"/>
            <p:cNvSpPr/>
            <p:nvPr/>
          </p:nvSpPr>
          <p:spPr>
            <a:xfrm flipH="false" flipV="false" rot="0">
              <a:off x="0" y="0"/>
              <a:ext cx="1029283" cy="600782"/>
            </a:xfrm>
            <a:custGeom>
              <a:avLst/>
              <a:gdLst/>
              <a:ahLst/>
              <a:cxnLst/>
              <a:rect r="r" b="b" t="t" l="l"/>
              <a:pathLst>
                <a:path h="600782" w="1029283">
                  <a:moveTo>
                    <a:pt x="38613" y="0"/>
                  </a:moveTo>
                  <a:lnTo>
                    <a:pt x="990671" y="0"/>
                  </a:lnTo>
                  <a:cubicBezTo>
                    <a:pt x="1011996" y="0"/>
                    <a:pt x="1029283" y="17288"/>
                    <a:pt x="1029283" y="38613"/>
                  </a:cubicBezTo>
                  <a:lnTo>
                    <a:pt x="1029283" y="562169"/>
                  </a:lnTo>
                  <a:cubicBezTo>
                    <a:pt x="1029283" y="583494"/>
                    <a:pt x="1011996" y="600782"/>
                    <a:pt x="990671" y="600782"/>
                  </a:cubicBezTo>
                  <a:lnTo>
                    <a:pt x="38613" y="600782"/>
                  </a:lnTo>
                  <a:cubicBezTo>
                    <a:pt x="17288" y="600782"/>
                    <a:pt x="0" y="583494"/>
                    <a:pt x="0" y="562169"/>
                  </a:cubicBezTo>
                  <a:lnTo>
                    <a:pt x="0" y="38613"/>
                  </a:lnTo>
                  <a:cubicBezTo>
                    <a:pt x="0" y="17288"/>
                    <a:pt x="17288" y="0"/>
                    <a:pt x="38613" y="0"/>
                  </a:cubicBezTo>
                  <a:close/>
                </a:path>
              </a:pathLst>
            </a:custGeom>
            <a:blipFill>
              <a:blip r:embed="rId2"/>
              <a:stretch>
                <a:fillRect l="-102" t="0" r="-102" b="0"/>
              </a:stretch>
            </a:blipFill>
            <a:ln cap="sq">
              <a:noFill/>
              <a:prstDash val="solid"/>
              <a:miter/>
            </a:ln>
          </p:spPr>
        </p:sp>
      </p:grpSp>
      <p:grpSp>
        <p:nvGrpSpPr>
          <p:cNvPr name="Group 11" id="11"/>
          <p:cNvGrpSpPr/>
          <p:nvPr/>
        </p:nvGrpSpPr>
        <p:grpSpPr>
          <a:xfrm rot="0">
            <a:off x="13409518" y="717177"/>
            <a:ext cx="4010025" cy="2340610"/>
            <a:chOff x="0" y="0"/>
            <a:chExt cx="1029283" cy="600782"/>
          </a:xfrm>
        </p:grpSpPr>
        <p:sp>
          <p:nvSpPr>
            <p:cNvPr name="Freeform 12" id="12"/>
            <p:cNvSpPr/>
            <p:nvPr/>
          </p:nvSpPr>
          <p:spPr>
            <a:xfrm flipH="false" flipV="false" rot="0">
              <a:off x="0" y="0"/>
              <a:ext cx="1029283" cy="600782"/>
            </a:xfrm>
            <a:custGeom>
              <a:avLst/>
              <a:gdLst/>
              <a:ahLst/>
              <a:cxnLst/>
              <a:rect r="r" b="b" t="t" l="l"/>
              <a:pathLst>
                <a:path h="600782" w="1029283">
                  <a:moveTo>
                    <a:pt x="38613" y="0"/>
                  </a:moveTo>
                  <a:lnTo>
                    <a:pt x="990671" y="0"/>
                  </a:lnTo>
                  <a:cubicBezTo>
                    <a:pt x="1011996" y="0"/>
                    <a:pt x="1029283" y="17288"/>
                    <a:pt x="1029283" y="38613"/>
                  </a:cubicBezTo>
                  <a:lnTo>
                    <a:pt x="1029283" y="562169"/>
                  </a:lnTo>
                  <a:cubicBezTo>
                    <a:pt x="1029283" y="583494"/>
                    <a:pt x="1011996" y="600782"/>
                    <a:pt x="990671" y="600782"/>
                  </a:cubicBezTo>
                  <a:lnTo>
                    <a:pt x="38613" y="600782"/>
                  </a:lnTo>
                  <a:cubicBezTo>
                    <a:pt x="17288" y="600782"/>
                    <a:pt x="0" y="583494"/>
                    <a:pt x="0" y="562169"/>
                  </a:cubicBezTo>
                  <a:lnTo>
                    <a:pt x="0" y="38613"/>
                  </a:lnTo>
                  <a:cubicBezTo>
                    <a:pt x="0" y="17288"/>
                    <a:pt x="17288" y="0"/>
                    <a:pt x="38613" y="0"/>
                  </a:cubicBezTo>
                  <a:close/>
                </a:path>
              </a:pathLst>
            </a:custGeom>
            <a:blipFill>
              <a:blip r:embed="rId3"/>
              <a:stretch>
                <a:fillRect l="-102" t="0" r="-102" b="0"/>
              </a:stretch>
            </a:blipFill>
            <a:ln cap="sq">
              <a:noFill/>
              <a:prstDash val="solid"/>
              <a:miter/>
            </a:ln>
          </p:spPr>
        </p:sp>
      </p:grpSp>
      <p:sp>
        <p:nvSpPr>
          <p:cNvPr name="TextBox 13" id="13"/>
          <p:cNvSpPr txBox="true"/>
          <p:nvPr/>
        </p:nvSpPr>
        <p:spPr>
          <a:xfrm rot="0">
            <a:off x="8843123" y="3344989"/>
            <a:ext cx="4009347" cy="457200"/>
          </a:xfrm>
          <a:prstGeom prst="rect">
            <a:avLst/>
          </a:prstGeom>
        </p:spPr>
        <p:txBody>
          <a:bodyPr anchor="t" rtlCol="false" tIns="0" lIns="0" bIns="0" rIns="0">
            <a:spAutoFit/>
          </a:bodyPr>
          <a:lstStyle/>
          <a:p>
            <a:pPr algn="l" marL="0" indent="0" lvl="0">
              <a:lnSpc>
                <a:spcPts val="3360"/>
              </a:lnSpc>
              <a:spcBef>
                <a:spcPct val="0"/>
              </a:spcBef>
            </a:pPr>
            <a:r>
              <a:rPr lang="en-US" b="true" sz="2800" spc="-42">
                <a:solidFill>
                  <a:srgbClr val="5A6A45"/>
                </a:solidFill>
                <a:latin typeface="Helvetica World Bold"/>
                <a:ea typeface="Helvetica World Bold"/>
                <a:cs typeface="Helvetica World Bold"/>
                <a:sym typeface="Helvetica World Bold"/>
              </a:rPr>
              <a:t>Age Groups</a:t>
            </a:r>
          </a:p>
        </p:txBody>
      </p:sp>
      <p:sp>
        <p:nvSpPr>
          <p:cNvPr name="TextBox 14" id="14"/>
          <p:cNvSpPr txBox="true"/>
          <p:nvPr/>
        </p:nvSpPr>
        <p:spPr>
          <a:xfrm rot="0">
            <a:off x="8843123" y="3929063"/>
            <a:ext cx="4010025" cy="634365"/>
          </a:xfrm>
          <a:prstGeom prst="rect">
            <a:avLst/>
          </a:prstGeom>
        </p:spPr>
        <p:txBody>
          <a:bodyPr anchor="t" rtlCol="false" tIns="0" lIns="0" bIns="0" rIns="0">
            <a:spAutoFit/>
          </a:bodyPr>
          <a:lstStyle/>
          <a:p>
            <a:pPr algn="l" marL="0" indent="0" lvl="0">
              <a:lnSpc>
                <a:spcPts val="2580"/>
              </a:lnSpc>
            </a:pPr>
            <a:r>
              <a:rPr lang="en-US" sz="2000" spc="-30">
                <a:solidFill>
                  <a:srgbClr val="5A6A45"/>
                </a:solidFill>
                <a:latin typeface="Helvetica World"/>
                <a:ea typeface="Helvetica World"/>
                <a:cs typeface="Helvetica World"/>
                <a:sym typeface="Helvetica World"/>
              </a:rPr>
              <a:t>Customers divided into life stage categories.</a:t>
            </a:r>
          </a:p>
        </p:txBody>
      </p:sp>
      <p:grpSp>
        <p:nvGrpSpPr>
          <p:cNvPr name="Group 15" id="15"/>
          <p:cNvGrpSpPr/>
          <p:nvPr/>
        </p:nvGrpSpPr>
        <p:grpSpPr>
          <a:xfrm rot="0">
            <a:off x="13615148" y="3344989"/>
            <a:ext cx="4010025" cy="1218438"/>
            <a:chOff x="0" y="0"/>
            <a:chExt cx="5346700" cy="1624584"/>
          </a:xfrm>
        </p:grpSpPr>
        <p:sp>
          <p:nvSpPr>
            <p:cNvPr name="TextBox 16" id="16"/>
            <p:cNvSpPr txBox="true"/>
            <p:nvPr/>
          </p:nvSpPr>
          <p:spPr>
            <a:xfrm rot="0">
              <a:off x="0" y="0"/>
              <a:ext cx="5345796" cy="609600"/>
            </a:xfrm>
            <a:prstGeom prst="rect">
              <a:avLst/>
            </a:prstGeom>
          </p:spPr>
          <p:txBody>
            <a:bodyPr anchor="t" rtlCol="false" tIns="0" lIns="0" bIns="0" rIns="0">
              <a:spAutoFit/>
            </a:bodyPr>
            <a:lstStyle/>
            <a:p>
              <a:pPr algn="l" marL="0" indent="0" lvl="0">
                <a:lnSpc>
                  <a:spcPts val="3360"/>
                </a:lnSpc>
                <a:spcBef>
                  <a:spcPct val="0"/>
                </a:spcBef>
              </a:pPr>
              <a:r>
                <a:rPr lang="en-US" b="true" sz="2800" spc="-42">
                  <a:solidFill>
                    <a:srgbClr val="5A6A45"/>
                  </a:solidFill>
                  <a:latin typeface="Helvetica World Bold"/>
                  <a:ea typeface="Helvetica World Bold"/>
                  <a:cs typeface="Helvetica World Bold"/>
                  <a:sym typeface="Helvetica World Bold"/>
                </a:rPr>
                <a:t>Marital Status</a:t>
              </a:r>
            </a:p>
          </p:txBody>
        </p:sp>
        <p:sp>
          <p:nvSpPr>
            <p:cNvPr name="TextBox 17" id="17"/>
            <p:cNvSpPr txBox="true"/>
            <p:nvPr/>
          </p:nvSpPr>
          <p:spPr>
            <a:xfrm rot="0">
              <a:off x="0" y="781939"/>
              <a:ext cx="5346700" cy="842645"/>
            </a:xfrm>
            <a:prstGeom prst="rect">
              <a:avLst/>
            </a:prstGeom>
          </p:spPr>
          <p:txBody>
            <a:bodyPr anchor="t" rtlCol="false" tIns="0" lIns="0" bIns="0" rIns="0">
              <a:spAutoFit/>
            </a:bodyPr>
            <a:lstStyle/>
            <a:p>
              <a:pPr algn="l" marL="0" indent="0" lvl="0">
                <a:lnSpc>
                  <a:spcPts val="2580"/>
                </a:lnSpc>
              </a:pPr>
              <a:r>
                <a:rPr lang="en-US" sz="2000" spc="-30">
                  <a:solidFill>
                    <a:srgbClr val="5A6A45"/>
                  </a:solidFill>
                  <a:latin typeface="Helvetica World"/>
                  <a:ea typeface="Helvetica World"/>
                  <a:cs typeface="Helvetica World"/>
                  <a:sym typeface="Helvetica World"/>
                </a:rPr>
                <a:t>Categorization based on relationship dynamics.</a:t>
              </a:r>
            </a:p>
          </p:txBody>
        </p:sp>
      </p:grpSp>
      <p:grpSp>
        <p:nvGrpSpPr>
          <p:cNvPr name="Group 18" id="18"/>
          <p:cNvGrpSpPr/>
          <p:nvPr/>
        </p:nvGrpSpPr>
        <p:grpSpPr>
          <a:xfrm rot="0">
            <a:off x="8843123" y="5395634"/>
            <a:ext cx="4010025" cy="2239371"/>
            <a:chOff x="0" y="0"/>
            <a:chExt cx="1029283" cy="574796"/>
          </a:xfrm>
        </p:grpSpPr>
        <p:sp>
          <p:nvSpPr>
            <p:cNvPr name="Freeform 19" id="19"/>
            <p:cNvSpPr/>
            <p:nvPr/>
          </p:nvSpPr>
          <p:spPr>
            <a:xfrm flipH="false" flipV="false" rot="0">
              <a:off x="0" y="0"/>
              <a:ext cx="1029283" cy="574796"/>
            </a:xfrm>
            <a:custGeom>
              <a:avLst/>
              <a:gdLst/>
              <a:ahLst/>
              <a:cxnLst/>
              <a:rect r="r" b="b" t="t" l="l"/>
              <a:pathLst>
                <a:path h="574796" w="1029283">
                  <a:moveTo>
                    <a:pt x="38613" y="0"/>
                  </a:moveTo>
                  <a:lnTo>
                    <a:pt x="990671" y="0"/>
                  </a:lnTo>
                  <a:cubicBezTo>
                    <a:pt x="1011996" y="0"/>
                    <a:pt x="1029283" y="17288"/>
                    <a:pt x="1029283" y="38613"/>
                  </a:cubicBezTo>
                  <a:lnTo>
                    <a:pt x="1029283" y="536184"/>
                  </a:lnTo>
                  <a:cubicBezTo>
                    <a:pt x="1029283" y="557509"/>
                    <a:pt x="1011996" y="574796"/>
                    <a:pt x="990671" y="574796"/>
                  </a:cubicBezTo>
                  <a:lnTo>
                    <a:pt x="38613" y="574796"/>
                  </a:lnTo>
                  <a:cubicBezTo>
                    <a:pt x="17288" y="574796"/>
                    <a:pt x="0" y="557509"/>
                    <a:pt x="0" y="536184"/>
                  </a:cubicBezTo>
                  <a:lnTo>
                    <a:pt x="0" y="38613"/>
                  </a:lnTo>
                  <a:cubicBezTo>
                    <a:pt x="0" y="17288"/>
                    <a:pt x="17288" y="0"/>
                    <a:pt x="38613" y="0"/>
                  </a:cubicBezTo>
                  <a:close/>
                </a:path>
              </a:pathLst>
            </a:custGeom>
            <a:blipFill>
              <a:blip r:embed="rId4"/>
              <a:stretch>
                <a:fillRect l="-423" t="0" r="-423" b="0"/>
              </a:stretch>
            </a:blipFill>
            <a:ln cap="sq">
              <a:noFill/>
              <a:prstDash val="solid"/>
              <a:miter/>
            </a:ln>
          </p:spPr>
        </p:sp>
      </p:grpSp>
      <p:grpSp>
        <p:nvGrpSpPr>
          <p:cNvPr name="Group 20" id="20"/>
          <p:cNvGrpSpPr/>
          <p:nvPr/>
        </p:nvGrpSpPr>
        <p:grpSpPr>
          <a:xfrm rot="0">
            <a:off x="13615148" y="5396631"/>
            <a:ext cx="4010025" cy="2238375"/>
            <a:chOff x="0" y="0"/>
            <a:chExt cx="1029283" cy="574541"/>
          </a:xfrm>
        </p:grpSpPr>
        <p:sp>
          <p:nvSpPr>
            <p:cNvPr name="Freeform 21" id="21"/>
            <p:cNvSpPr/>
            <p:nvPr/>
          </p:nvSpPr>
          <p:spPr>
            <a:xfrm flipH="false" flipV="false" rot="0">
              <a:off x="0" y="0"/>
              <a:ext cx="1029283" cy="574541"/>
            </a:xfrm>
            <a:custGeom>
              <a:avLst/>
              <a:gdLst/>
              <a:ahLst/>
              <a:cxnLst/>
              <a:rect r="r" b="b" t="t" l="l"/>
              <a:pathLst>
                <a:path h="574541" w="1029283">
                  <a:moveTo>
                    <a:pt x="38613" y="0"/>
                  </a:moveTo>
                  <a:lnTo>
                    <a:pt x="990671" y="0"/>
                  </a:lnTo>
                  <a:cubicBezTo>
                    <a:pt x="1011996" y="0"/>
                    <a:pt x="1029283" y="17288"/>
                    <a:pt x="1029283" y="38613"/>
                  </a:cubicBezTo>
                  <a:lnTo>
                    <a:pt x="1029283" y="535928"/>
                  </a:lnTo>
                  <a:cubicBezTo>
                    <a:pt x="1029283" y="557253"/>
                    <a:pt x="1011996" y="574541"/>
                    <a:pt x="990671" y="574541"/>
                  </a:cubicBezTo>
                  <a:lnTo>
                    <a:pt x="38613" y="574541"/>
                  </a:lnTo>
                  <a:cubicBezTo>
                    <a:pt x="17288" y="574541"/>
                    <a:pt x="0" y="557253"/>
                    <a:pt x="0" y="535928"/>
                  </a:cubicBezTo>
                  <a:lnTo>
                    <a:pt x="0" y="38613"/>
                  </a:lnTo>
                  <a:cubicBezTo>
                    <a:pt x="0" y="17288"/>
                    <a:pt x="17288" y="0"/>
                    <a:pt x="38613" y="0"/>
                  </a:cubicBezTo>
                  <a:close/>
                </a:path>
              </a:pathLst>
            </a:custGeom>
            <a:blipFill>
              <a:blip r:embed="rId5"/>
              <a:stretch>
                <a:fillRect l="-401" t="0" r="-401" b="0"/>
              </a:stretch>
            </a:blipFill>
            <a:ln cap="sq">
              <a:noFill/>
              <a:prstDash val="solid"/>
              <a:miter/>
            </a:ln>
          </p:spPr>
        </p:sp>
      </p:grpSp>
      <p:grpSp>
        <p:nvGrpSpPr>
          <p:cNvPr name="Group 22" id="22"/>
          <p:cNvGrpSpPr/>
          <p:nvPr/>
        </p:nvGrpSpPr>
        <p:grpSpPr>
          <a:xfrm rot="0">
            <a:off x="9144000" y="7963896"/>
            <a:ext cx="4010025" cy="1218438"/>
            <a:chOff x="0" y="0"/>
            <a:chExt cx="5346700" cy="1624584"/>
          </a:xfrm>
        </p:grpSpPr>
        <p:sp>
          <p:nvSpPr>
            <p:cNvPr name="TextBox 23" id="23"/>
            <p:cNvSpPr txBox="true"/>
            <p:nvPr/>
          </p:nvSpPr>
          <p:spPr>
            <a:xfrm rot="0">
              <a:off x="0" y="0"/>
              <a:ext cx="5345796" cy="609600"/>
            </a:xfrm>
            <a:prstGeom prst="rect">
              <a:avLst/>
            </a:prstGeom>
          </p:spPr>
          <p:txBody>
            <a:bodyPr anchor="t" rtlCol="false" tIns="0" lIns="0" bIns="0" rIns="0">
              <a:spAutoFit/>
            </a:bodyPr>
            <a:lstStyle/>
            <a:p>
              <a:pPr algn="l" marL="0" indent="0" lvl="0">
                <a:lnSpc>
                  <a:spcPts val="3360"/>
                </a:lnSpc>
                <a:spcBef>
                  <a:spcPct val="0"/>
                </a:spcBef>
              </a:pPr>
              <a:r>
                <a:rPr lang="en-US" b="true" sz="2800" spc="-42">
                  <a:solidFill>
                    <a:srgbClr val="5A6A45"/>
                  </a:solidFill>
                  <a:latin typeface="Helvetica World Bold"/>
                  <a:ea typeface="Helvetica World Bold"/>
                  <a:cs typeface="Helvetica World Bold"/>
                  <a:sym typeface="Helvetica World Bold"/>
                </a:rPr>
                <a:t>Education Levels</a:t>
              </a:r>
            </a:p>
          </p:txBody>
        </p:sp>
        <p:sp>
          <p:nvSpPr>
            <p:cNvPr name="TextBox 24" id="24"/>
            <p:cNvSpPr txBox="true"/>
            <p:nvPr/>
          </p:nvSpPr>
          <p:spPr>
            <a:xfrm rot="0">
              <a:off x="0" y="781939"/>
              <a:ext cx="5346700" cy="842645"/>
            </a:xfrm>
            <a:prstGeom prst="rect">
              <a:avLst/>
            </a:prstGeom>
          </p:spPr>
          <p:txBody>
            <a:bodyPr anchor="t" rtlCol="false" tIns="0" lIns="0" bIns="0" rIns="0">
              <a:spAutoFit/>
            </a:bodyPr>
            <a:lstStyle/>
            <a:p>
              <a:pPr algn="l" marL="0" indent="0" lvl="0">
                <a:lnSpc>
                  <a:spcPts val="2580"/>
                </a:lnSpc>
              </a:pPr>
              <a:r>
                <a:rPr lang="en-US" sz="2000" spc="-30">
                  <a:solidFill>
                    <a:srgbClr val="5A6A45"/>
                  </a:solidFill>
                  <a:latin typeface="Helvetica World"/>
                  <a:ea typeface="Helvetica World"/>
                  <a:cs typeface="Helvetica World"/>
                  <a:sym typeface="Helvetica World"/>
                </a:rPr>
                <a:t>Insights based on educational backgrounds.</a:t>
              </a:r>
            </a:p>
          </p:txBody>
        </p:sp>
      </p:grpSp>
      <p:grpSp>
        <p:nvGrpSpPr>
          <p:cNvPr name="Group 25" id="25"/>
          <p:cNvGrpSpPr/>
          <p:nvPr/>
        </p:nvGrpSpPr>
        <p:grpSpPr>
          <a:xfrm rot="0">
            <a:off x="13615148" y="8039862"/>
            <a:ext cx="4010025" cy="1218438"/>
            <a:chOff x="0" y="0"/>
            <a:chExt cx="5346700" cy="1624584"/>
          </a:xfrm>
        </p:grpSpPr>
        <p:sp>
          <p:nvSpPr>
            <p:cNvPr name="TextBox 26" id="26"/>
            <p:cNvSpPr txBox="true"/>
            <p:nvPr/>
          </p:nvSpPr>
          <p:spPr>
            <a:xfrm rot="0">
              <a:off x="0" y="0"/>
              <a:ext cx="5345796" cy="609600"/>
            </a:xfrm>
            <a:prstGeom prst="rect">
              <a:avLst/>
            </a:prstGeom>
          </p:spPr>
          <p:txBody>
            <a:bodyPr anchor="t" rtlCol="false" tIns="0" lIns="0" bIns="0" rIns="0">
              <a:spAutoFit/>
            </a:bodyPr>
            <a:lstStyle/>
            <a:p>
              <a:pPr algn="l" marL="0" indent="0" lvl="0">
                <a:lnSpc>
                  <a:spcPts val="3360"/>
                </a:lnSpc>
                <a:spcBef>
                  <a:spcPct val="0"/>
                </a:spcBef>
              </a:pPr>
              <a:r>
                <a:rPr lang="en-US" b="true" sz="2800" spc="-42">
                  <a:solidFill>
                    <a:srgbClr val="5A6A45"/>
                  </a:solidFill>
                  <a:latin typeface="Helvetica World Bold"/>
                  <a:ea typeface="Helvetica World Bold"/>
                  <a:cs typeface="Helvetica World Bold"/>
                  <a:sym typeface="Helvetica World Bold"/>
                </a:rPr>
                <a:t>Income Ranges</a:t>
              </a:r>
            </a:p>
          </p:txBody>
        </p:sp>
        <p:sp>
          <p:nvSpPr>
            <p:cNvPr name="TextBox 27" id="27"/>
            <p:cNvSpPr txBox="true"/>
            <p:nvPr/>
          </p:nvSpPr>
          <p:spPr>
            <a:xfrm rot="0">
              <a:off x="0" y="781939"/>
              <a:ext cx="5346700" cy="842645"/>
            </a:xfrm>
            <a:prstGeom prst="rect">
              <a:avLst/>
            </a:prstGeom>
          </p:spPr>
          <p:txBody>
            <a:bodyPr anchor="t" rtlCol="false" tIns="0" lIns="0" bIns="0" rIns="0">
              <a:spAutoFit/>
            </a:bodyPr>
            <a:lstStyle/>
            <a:p>
              <a:pPr algn="l" marL="0" indent="0" lvl="0">
                <a:lnSpc>
                  <a:spcPts val="2580"/>
                </a:lnSpc>
              </a:pPr>
              <a:r>
                <a:rPr lang="en-US" sz="2000" spc="-30">
                  <a:solidFill>
                    <a:srgbClr val="5A6A45"/>
                  </a:solidFill>
                  <a:latin typeface="Helvetica World"/>
                  <a:ea typeface="Helvetica World"/>
                  <a:cs typeface="Helvetica World"/>
                  <a:sym typeface="Helvetica World"/>
                </a:rPr>
                <a:t>Grouping customers by income status.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A2B88F"/>
        </a:solidFill>
      </p:bgPr>
    </p:bg>
    <p:spTree>
      <p:nvGrpSpPr>
        <p:cNvPr id="1" name=""/>
        <p:cNvGrpSpPr/>
        <p:nvPr/>
      </p:nvGrpSpPr>
      <p:grpSpPr>
        <a:xfrm>
          <a:off x="0" y="0"/>
          <a:ext cx="0" cy="0"/>
          <a:chOff x="0" y="0"/>
          <a:chExt cx="0" cy="0"/>
        </a:xfrm>
      </p:grpSpPr>
      <p:grpSp>
        <p:nvGrpSpPr>
          <p:cNvPr name="Group 2" id="2"/>
          <p:cNvGrpSpPr/>
          <p:nvPr/>
        </p:nvGrpSpPr>
        <p:grpSpPr>
          <a:xfrm rot="0">
            <a:off x="666750" y="2908300"/>
            <a:ext cx="5448300" cy="6711950"/>
            <a:chOff x="0" y="0"/>
            <a:chExt cx="1434943" cy="1767756"/>
          </a:xfrm>
        </p:grpSpPr>
        <p:sp>
          <p:nvSpPr>
            <p:cNvPr name="Freeform 3" id="3"/>
            <p:cNvSpPr/>
            <p:nvPr/>
          </p:nvSpPr>
          <p:spPr>
            <a:xfrm flipH="false" flipV="false" rot="0">
              <a:off x="0" y="0"/>
              <a:ext cx="1434943" cy="1767756"/>
            </a:xfrm>
            <a:custGeom>
              <a:avLst/>
              <a:gdLst/>
              <a:ahLst/>
              <a:cxnLst/>
              <a:rect r="r" b="b" t="t" l="l"/>
              <a:pathLst>
                <a:path h="1767756" w="1434943">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5F7F1"/>
            </a:solidFill>
          </p:spPr>
        </p:sp>
        <p:sp>
          <p:nvSpPr>
            <p:cNvPr name="TextBox 4" id="4"/>
            <p:cNvSpPr txBox="true"/>
            <p:nvPr/>
          </p:nvSpPr>
          <p:spPr>
            <a:xfrm>
              <a:off x="0" y="-28575"/>
              <a:ext cx="1434943" cy="1796331"/>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0">
            <a:off x="6419850" y="2908300"/>
            <a:ext cx="5448300" cy="6711950"/>
            <a:chOff x="0" y="0"/>
            <a:chExt cx="1434943" cy="1767756"/>
          </a:xfrm>
        </p:grpSpPr>
        <p:sp>
          <p:nvSpPr>
            <p:cNvPr name="Freeform 6" id="6"/>
            <p:cNvSpPr/>
            <p:nvPr/>
          </p:nvSpPr>
          <p:spPr>
            <a:xfrm flipH="false" flipV="false" rot="0">
              <a:off x="0" y="0"/>
              <a:ext cx="1434943" cy="1767756"/>
            </a:xfrm>
            <a:custGeom>
              <a:avLst/>
              <a:gdLst/>
              <a:ahLst/>
              <a:cxnLst/>
              <a:rect r="r" b="b" t="t" l="l"/>
              <a:pathLst>
                <a:path h="1767756" w="1434943">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5F7F1"/>
            </a:solidFill>
          </p:spPr>
        </p:sp>
        <p:sp>
          <p:nvSpPr>
            <p:cNvPr name="TextBox 7" id="7"/>
            <p:cNvSpPr txBox="true"/>
            <p:nvPr/>
          </p:nvSpPr>
          <p:spPr>
            <a:xfrm>
              <a:off x="0" y="-28575"/>
              <a:ext cx="1434943" cy="1796331"/>
            </a:xfrm>
            <a:prstGeom prst="rect">
              <a:avLst/>
            </a:prstGeom>
          </p:spPr>
          <p:txBody>
            <a:bodyPr anchor="ctr" rtlCol="false" tIns="50800" lIns="50800" bIns="50800" rIns="50800"/>
            <a:lstStyle/>
            <a:p>
              <a:pPr algn="ctr">
                <a:lnSpc>
                  <a:spcPts val="1960"/>
                </a:lnSpc>
              </a:pPr>
            </a:p>
          </p:txBody>
        </p:sp>
      </p:grpSp>
      <p:grpSp>
        <p:nvGrpSpPr>
          <p:cNvPr name="Group 8" id="8"/>
          <p:cNvGrpSpPr/>
          <p:nvPr/>
        </p:nvGrpSpPr>
        <p:grpSpPr>
          <a:xfrm rot="0">
            <a:off x="12172950" y="2908300"/>
            <a:ext cx="5448300" cy="6711950"/>
            <a:chOff x="0" y="0"/>
            <a:chExt cx="1434943" cy="1767756"/>
          </a:xfrm>
        </p:grpSpPr>
        <p:sp>
          <p:nvSpPr>
            <p:cNvPr name="Freeform 9" id="9"/>
            <p:cNvSpPr/>
            <p:nvPr/>
          </p:nvSpPr>
          <p:spPr>
            <a:xfrm flipH="false" flipV="false" rot="0">
              <a:off x="0" y="0"/>
              <a:ext cx="1434943" cy="1767756"/>
            </a:xfrm>
            <a:custGeom>
              <a:avLst/>
              <a:gdLst/>
              <a:ahLst/>
              <a:cxnLst/>
              <a:rect r="r" b="b" t="t" l="l"/>
              <a:pathLst>
                <a:path h="1767756" w="1434943">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5F7F1"/>
            </a:solidFill>
          </p:spPr>
        </p:sp>
        <p:sp>
          <p:nvSpPr>
            <p:cNvPr name="TextBox 10" id="10"/>
            <p:cNvSpPr txBox="true"/>
            <p:nvPr/>
          </p:nvSpPr>
          <p:spPr>
            <a:xfrm>
              <a:off x="0" y="-28575"/>
              <a:ext cx="1434943" cy="1796331"/>
            </a:xfrm>
            <a:prstGeom prst="rect">
              <a:avLst/>
            </a:prstGeom>
          </p:spPr>
          <p:txBody>
            <a:bodyPr anchor="ctr" rtlCol="false" tIns="50800" lIns="50800" bIns="50800" rIns="50800"/>
            <a:lstStyle/>
            <a:p>
              <a:pPr algn="ctr">
                <a:lnSpc>
                  <a:spcPts val="1960"/>
                </a:lnSpc>
              </a:pPr>
            </a:p>
          </p:txBody>
        </p:sp>
      </p:grpSp>
      <p:grpSp>
        <p:nvGrpSpPr>
          <p:cNvPr name="Group 11" id="11"/>
          <p:cNvGrpSpPr/>
          <p:nvPr/>
        </p:nvGrpSpPr>
        <p:grpSpPr>
          <a:xfrm rot="0">
            <a:off x="1066053" y="4248150"/>
            <a:ext cx="4649694" cy="3581400"/>
            <a:chOff x="0" y="0"/>
            <a:chExt cx="1259398" cy="970044"/>
          </a:xfrm>
        </p:grpSpPr>
        <p:sp>
          <p:nvSpPr>
            <p:cNvPr name="Freeform 12" id="12"/>
            <p:cNvSpPr/>
            <p:nvPr/>
          </p:nvSpPr>
          <p:spPr>
            <a:xfrm flipH="false" flipV="false" rot="0">
              <a:off x="0" y="0"/>
              <a:ext cx="1259398" cy="970044"/>
            </a:xfrm>
            <a:custGeom>
              <a:avLst/>
              <a:gdLst/>
              <a:ahLst/>
              <a:cxnLst/>
              <a:rect r="r" b="b" t="t" l="l"/>
              <a:pathLst>
                <a:path h="970044" w="1259398">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2"/>
              <a:stretch>
                <a:fillRect l="-342" t="0" r="-342" b="0"/>
              </a:stretch>
            </a:blipFill>
          </p:spPr>
        </p:sp>
      </p:grpSp>
      <p:grpSp>
        <p:nvGrpSpPr>
          <p:cNvPr name="Group 13" id="13"/>
          <p:cNvGrpSpPr/>
          <p:nvPr/>
        </p:nvGrpSpPr>
        <p:grpSpPr>
          <a:xfrm rot="0">
            <a:off x="6819153" y="4248150"/>
            <a:ext cx="4649694" cy="3581400"/>
            <a:chOff x="0" y="0"/>
            <a:chExt cx="1259398" cy="970044"/>
          </a:xfrm>
        </p:grpSpPr>
        <p:sp>
          <p:nvSpPr>
            <p:cNvPr name="Freeform 14" id="14"/>
            <p:cNvSpPr/>
            <p:nvPr/>
          </p:nvSpPr>
          <p:spPr>
            <a:xfrm flipH="false" flipV="false" rot="0">
              <a:off x="0" y="0"/>
              <a:ext cx="1259398" cy="970044"/>
            </a:xfrm>
            <a:custGeom>
              <a:avLst/>
              <a:gdLst/>
              <a:ahLst/>
              <a:cxnLst/>
              <a:rect r="r" b="b" t="t" l="l"/>
              <a:pathLst>
                <a:path h="970044" w="1259398">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3"/>
              <a:stretch>
                <a:fillRect l="-342" t="0" r="-342" b="0"/>
              </a:stretch>
            </a:blipFill>
          </p:spPr>
        </p:sp>
      </p:grpSp>
      <p:grpSp>
        <p:nvGrpSpPr>
          <p:cNvPr name="Group 15" id="15"/>
          <p:cNvGrpSpPr/>
          <p:nvPr/>
        </p:nvGrpSpPr>
        <p:grpSpPr>
          <a:xfrm rot="0">
            <a:off x="12572253" y="4248150"/>
            <a:ext cx="4649694" cy="3581400"/>
            <a:chOff x="0" y="0"/>
            <a:chExt cx="1259398" cy="970044"/>
          </a:xfrm>
        </p:grpSpPr>
        <p:sp>
          <p:nvSpPr>
            <p:cNvPr name="Freeform 16" id="16"/>
            <p:cNvSpPr/>
            <p:nvPr/>
          </p:nvSpPr>
          <p:spPr>
            <a:xfrm flipH="false" flipV="false" rot="0">
              <a:off x="0" y="0"/>
              <a:ext cx="1259398" cy="970044"/>
            </a:xfrm>
            <a:custGeom>
              <a:avLst/>
              <a:gdLst/>
              <a:ahLst/>
              <a:cxnLst/>
              <a:rect r="r" b="b" t="t" l="l"/>
              <a:pathLst>
                <a:path h="970044" w="1259398">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4"/>
              <a:stretch>
                <a:fillRect l="-342" t="0" r="-342" b="0"/>
              </a:stretch>
            </a:blipFill>
          </p:spPr>
        </p:sp>
      </p:grpSp>
      <p:sp>
        <p:nvSpPr>
          <p:cNvPr name="TextBox 17" id="17"/>
          <p:cNvSpPr txBox="true"/>
          <p:nvPr/>
        </p:nvSpPr>
        <p:spPr>
          <a:xfrm rot="0">
            <a:off x="1021783" y="8282996"/>
            <a:ext cx="4738234" cy="650311"/>
          </a:xfrm>
          <a:prstGeom prst="rect">
            <a:avLst/>
          </a:prstGeom>
        </p:spPr>
        <p:txBody>
          <a:bodyPr anchor="t" rtlCol="false" tIns="0" lIns="0" bIns="0" rIns="0">
            <a:spAutoFit/>
          </a:bodyPr>
          <a:lstStyle/>
          <a:p>
            <a:pPr algn="ctr" marL="0" indent="0" lvl="0">
              <a:lnSpc>
                <a:spcPts val="2481"/>
              </a:lnSpc>
            </a:pPr>
            <a:r>
              <a:rPr lang="en-US" sz="1772" spc="-26">
                <a:solidFill>
                  <a:srgbClr val="5A6A45"/>
                </a:solidFill>
                <a:latin typeface="Helvetica World"/>
                <a:ea typeface="Helvetica World"/>
                <a:cs typeface="Helvetica World"/>
                <a:sym typeface="Helvetica World"/>
              </a:rPr>
              <a:t>The </a:t>
            </a:r>
            <a:r>
              <a:rPr lang="en-US" b="true" sz="1772" spc="-26">
                <a:solidFill>
                  <a:srgbClr val="5A6A45"/>
                </a:solidFill>
                <a:latin typeface="Helvetica World Bold"/>
                <a:ea typeface="Helvetica World Bold"/>
                <a:cs typeface="Helvetica World Bold"/>
                <a:sym typeface="Helvetica World Bold"/>
              </a:rPr>
              <a:t>SUM function</a:t>
            </a:r>
            <a:r>
              <a:rPr lang="en-US" sz="1772" spc="-26">
                <a:solidFill>
                  <a:srgbClr val="5A6A45"/>
                </a:solidFill>
                <a:latin typeface="Helvetica World"/>
                <a:ea typeface="Helvetica World"/>
                <a:cs typeface="Helvetica World"/>
                <a:sym typeface="Helvetica World"/>
              </a:rPr>
              <a:t> aggregates values, providing totals for essential metrics in analysis.</a:t>
            </a:r>
          </a:p>
        </p:txBody>
      </p:sp>
      <p:sp>
        <p:nvSpPr>
          <p:cNvPr name="TextBox 18" id="18"/>
          <p:cNvSpPr txBox="true"/>
          <p:nvPr/>
        </p:nvSpPr>
        <p:spPr>
          <a:xfrm rot="0">
            <a:off x="1041066" y="3381375"/>
            <a:ext cx="4699667" cy="543561"/>
          </a:xfrm>
          <a:prstGeom prst="rect">
            <a:avLst/>
          </a:prstGeom>
        </p:spPr>
        <p:txBody>
          <a:bodyPr anchor="t" rtlCol="false" tIns="0" lIns="0" bIns="0" rIns="0">
            <a:spAutoFit/>
          </a:bodyPr>
          <a:lstStyle/>
          <a:p>
            <a:pPr algn="ctr" marL="0" indent="0" lvl="0">
              <a:lnSpc>
                <a:spcPts val="4180"/>
              </a:lnSpc>
              <a:spcBef>
                <a:spcPct val="0"/>
              </a:spcBef>
            </a:pPr>
            <a:r>
              <a:rPr lang="en-US" sz="3800" spc="-95" strike="noStrike" u="none">
                <a:solidFill>
                  <a:srgbClr val="5A6A45"/>
                </a:solidFill>
                <a:latin typeface="Georgia Pro Condensed"/>
                <a:ea typeface="Georgia Pro Condensed"/>
                <a:cs typeface="Georgia Pro Condensed"/>
                <a:sym typeface="Georgia Pro Condensed"/>
              </a:rPr>
              <a:t>SUM Function</a:t>
            </a:r>
          </a:p>
        </p:txBody>
      </p:sp>
      <p:sp>
        <p:nvSpPr>
          <p:cNvPr name="TextBox 19" id="19"/>
          <p:cNvSpPr txBox="true"/>
          <p:nvPr/>
        </p:nvSpPr>
        <p:spPr>
          <a:xfrm rot="0">
            <a:off x="6773192" y="8282996"/>
            <a:ext cx="4741615" cy="650311"/>
          </a:xfrm>
          <a:prstGeom prst="rect">
            <a:avLst/>
          </a:prstGeom>
        </p:spPr>
        <p:txBody>
          <a:bodyPr anchor="t" rtlCol="false" tIns="0" lIns="0" bIns="0" rIns="0">
            <a:spAutoFit/>
          </a:bodyPr>
          <a:lstStyle/>
          <a:p>
            <a:pPr algn="ctr" marL="0" indent="0" lvl="0">
              <a:lnSpc>
                <a:spcPts val="2481"/>
              </a:lnSpc>
            </a:pPr>
            <a:r>
              <a:rPr lang="en-US" sz="1772" spc="-26">
                <a:solidFill>
                  <a:srgbClr val="5A6A45"/>
                </a:solidFill>
                <a:latin typeface="Helvetica World"/>
                <a:ea typeface="Helvetica World"/>
                <a:cs typeface="Helvetica World"/>
                <a:sym typeface="Helvetica World"/>
              </a:rPr>
              <a:t>The </a:t>
            </a:r>
            <a:r>
              <a:rPr lang="en-US" b="true" sz="1772" spc="-26">
                <a:solidFill>
                  <a:srgbClr val="5A6A45"/>
                </a:solidFill>
                <a:latin typeface="Helvetica World Bold"/>
                <a:ea typeface="Helvetica World Bold"/>
                <a:cs typeface="Helvetica World Bold"/>
                <a:sym typeface="Helvetica World Bold"/>
              </a:rPr>
              <a:t>AVERAGE function</a:t>
            </a:r>
            <a:r>
              <a:rPr lang="en-US" sz="1772" spc="-26">
                <a:solidFill>
                  <a:srgbClr val="5A6A45"/>
                </a:solidFill>
                <a:latin typeface="Helvetica World"/>
                <a:ea typeface="Helvetica World"/>
                <a:cs typeface="Helvetica World"/>
                <a:sym typeface="Helvetica World"/>
              </a:rPr>
              <a:t> calculates mean values, offering insights into customer spending patterns.</a:t>
            </a:r>
          </a:p>
        </p:txBody>
      </p:sp>
      <p:sp>
        <p:nvSpPr>
          <p:cNvPr name="TextBox 20" id="20"/>
          <p:cNvSpPr txBox="true"/>
          <p:nvPr/>
        </p:nvSpPr>
        <p:spPr>
          <a:xfrm rot="0">
            <a:off x="6773192" y="3381375"/>
            <a:ext cx="4741615" cy="543561"/>
          </a:xfrm>
          <a:prstGeom prst="rect">
            <a:avLst/>
          </a:prstGeom>
        </p:spPr>
        <p:txBody>
          <a:bodyPr anchor="t" rtlCol="false" tIns="0" lIns="0" bIns="0" rIns="0">
            <a:spAutoFit/>
          </a:bodyPr>
          <a:lstStyle/>
          <a:p>
            <a:pPr algn="ctr" marL="0" indent="0" lvl="0">
              <a:lnSpc>
                <a:spcPts val="4180"/>
              </a:lnSpc>
              <a:spcBef>
                <a:spcPct val="0"/>
              </a:spcBef>
            </a:pPr>
            <a:r>
              <a:rPr lang="en-US" sz="3800" spc="-95" strike="noStrike" u="none">
                <a:solidFill>
                  <a:srgbClr val="5A6A45"/>
                </a:solidFill>
                <a:latin typeface="Georgia Pro Condensed"/>
                <a:ea typeface="Georgia Pro Condensed"/>
                <a:cs typeface="Georgia Pro Condensed"/>
                <a:sym typeface="Georgia Pro Condensed"/>
              </a:rPr>
              <a:t>AVERAGE Function</a:t>
            </a:r>
          </a:p>
        </p:txBody>
      </p:sp>
      <p:sp>
        <p:nvSpPr>
          <p:cNvPr name="TextBox 21" id="21"/>
          <p:cNvSpPr txBox="true"/>
          <p:nvPr/>
        </p:nvSpPr>
        <p:spPr>
          <a:xfrm rot="0">
            <a:off x="12551109" y="8281844"/>
            <a:ext cx="4691983" cy="650311"/>
          </a:xfrm>
          <a:prstGeom prst="rect">
            <a:avLst/>
          </a:prstGeom>
        </p:spPr>
        <p:txBody>
          <a:bodyPr anchor="t" rtlCol="false" tIns="0" lIns="0" bIns="0" rIns="0">
            <a:spAutoFit/>
          </a:bodyPr>
          <a:lstStyle/>
          <a:p>
            <a:pPr algn="ctr" marL="0" indent="0" lvl="0">
              <a:lnSpc>
                <a:spcPts val="2481"/>
              </a:lnSpc>
            </a:pPr>
            <a:r>
              <a:rPr lang="en-US" sz="1772" spc="-26">
                <a:solidFill>
                  <a:srgbClr val="5A6A45"/>
                </a:solidFill>
                <a:latin typeface="Helvetica World"/>
                <a:ea typeface="Helvetica World"/>
                <a:cs typeface="Helvetica World"/>
                <a:sym typeface="Helvetica World"/>
              </a:rPr>
              <a:t>The </a:t>
            </a:r>
            <a:r>
              <a:rPr lang="en-US" b="true" sz="1772" spc="-26">
                <a:solidFill>
                  <a:srgbClr val="5A6A45"/>
                </a:solidFill>
                <a:latin typeface="Helvetica World Bold"/>
                <a:ea typeface="Helvetica World Bold"/>
                <a:cs typeface="Helvetica World Bold"/>
                <a:sym typeface="Helvetica World Bold"/>
              </a:rPr>
              <a:t>MAX function</a:t>
            </a:r>
            <a:r>
              <a:rPr lang="en-US" sz="1772" spc="-26">
                <a:solidFill>
                  <a:srgbClr val="5A6A45"/>
                </a:solidFill>
                <a:latin typeface="Helvetica World"/>
                <a:ea typeface="Helvetica World"/>
                <a:cs typeface="Helvetica World"/>
                <a:sym typeface="Helvetica World"/>
              </a:rPr>
              <a:t> identifies highest values, crucial for uncovering top spending categories.</a:t>
            </a:r>
          </a:p>
        </p:txBody>
      </p:sp>
      <p:sp>
        <p:nvSpPr>
          <p:cNvPr name="TextBox 22" id="22"/>
          <p:cNvSpPr txBox="true"/>
          <p:nvPr/>
        </p:nvSpPr>
        <p:spPr>
          <a:xfrm rot="0">
            <a:off x="12551109" y="3381375"/>
            <a:ext cx="4691983" cy="543561"/>
          </a:xfrm>
          <a:prstGeom prst="rect">
            <a:avLst/>
          </a:prstGeom>
        </p:spPr>
        <p:txBody>
          <a:bodyPr anchor="t" rtlCol="false" tIns="0" lIns="0" bIns="0" rIns="0">
            <a:spAutoFit/>
          </a:bodyPr>
          <a:lstStyle/>
          <a:p>
            <a:pPr algn="ctr" marL="0" indent="0" lvl="0">
              <a:lnSpc>
                <a:spcPts val="4180"/>
              </a:lnSpc>
            </a:pPr>
            <a:r>
              <a:rPr lang="en-US" sz="3800" spc="-95">
                <a:solidFill>
                  <a:srgbClr val="5A6A45"/>
                </a:solidFill>
                <a:latin typeface="Georgia Pro Condensed"/>
                <a:ea typeface="Georgia Pro Condensed"/>
                <a:cs typeface="Georgia Pro Condensed"/>
                <a:sym typeface="Georgia Pro Condensed"/>
              </a:rPr>
              <a:t>MAX Function</a:t>
            </a:r>
          </a:p>
        </p:txBody>
      </p:sp>
      <p:sp>
        <p:nvSpPr>
          <p:cNvPr name="TextBox 23" id="23"/>
          <p:cNvSpPr txBox="true"/>
          <p:nvPr/>
        </p:nvSpPr>
        <p:spPr>
          <a:xfrm rot="0">
            <a:off x="666750" y="809625"/>
            <a:ext cx="16954500" cy="1069976"/>
          </a:xfrm>
          <a:prstGeom prst="rect">
            <a:avLst/>
          </a:prstGeom>
        </p:spPr>
        <p:txBody>
          <a:bodyPr anchor="t" rtlCol="false" tIns="0" lIns="0" bIns="0" rIns="0">
            <a:spAutoFit/>
          </a:bodyPr>
          <a:lstStyle/>
          <a:p>
            <a:pPr algn="ctr" marL="0" indent="0" lvl="0">
              <a:lnSpc>
                <a:spcPts val="8000"/>
              </a:lnSpc>
            </a:pPr>
            <a:r>
              <a:rPr lang="en-US" sz="8000" spc="-200">
                <a:solidFill>
                  <a:srgbClr val="5A6A45"/>
                </a:solidFill>
                <a:latin typeface="Georgia Pro Condensed"/>
                <a:ea typeface="Georgia Pro Condensed"/>
                <a:cs typeface="Georgia Pro Condensed"/>
                <a:sym typeface="Georgia Pro Condensed"/>
              </a:rPr>
              <a:t>Statistical Analysis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A2B88F"/>
        </a:solidFill>
      </p:bgPr>
    </p:bg>
    <p:spTree>
      <p:nvGrpSpPr>
        <p:cNvPr id="1" name=""/>
        <p:cNvGrpSpPr/>
        <p:nvPr/>
      </p:nvGrpSpPr>
      <p:grpSpPr>
        <a:xfrm>
          <a:off x="0" y="0"/>
          <a:ext cx="0" cy="0"/>
          <a:chOff x="0" y="0"/>
          <a:chExt cx="0" cy="0"/>
        </a:xfrm>
      </p:grpSpPr>
      <p:grpSp>
        <p:nvGrpSpPr>
          <p:cNvPr name="Group 2" id="2"/>
          <p:cNvGrpSpPr/>
          <p:nvPr/>
        </p:nvGrpSpPr>
        <p:grpSpPr>
          <a:xfrm rot="0">
            <a:off x="0" y="0"/>
            <a:ext cx="7858125" cy="10287000"/>
            <a:chOff x="0" y="0"/>
            <a:chExt cx="2069630" cy="2709333"/>
          </a:xfrm>
        </p:grpSpPr>
        <p:sp>
          <p:nvSpPr>
            <p:cNvPr name="Freeform 3" id="3"/>
            <p:cNvSpPr/>
            <p:nvPr/>
          </p:nvSpPr>
          <p:spPr>
            <a:xfrm flipH="false" flipV="false" rot="0">
              <a:off x="0" y="0"/>
              <a:ext cx="2069630" cy="2709333"/>
            </a:xfrm>
            <a:custGeom>
              <a:avLst/>
              <a:gdLst/>
              <a:ahLst/>
              <a:cxnLst/>
              <a:rect r="r" b="b" t="t" l="l"/>
              <a:pathLst>
                <a:path h="2709333" w="2069630">
                  <a:moveTo>
                    <a:pt x="0" y="0"/>
                  </a:moveTo>
                  <a:lnTo>
                    <a:pt x="2069630" y="0"/>
                  </a:lnTo>
                  <a:lnTo>
                    <a:pt x="2069630" y="2709333"/>
                  </a:lnTo>
                  <a:lnTo>
                    <a:pt x="0" y="2709333"/>
                  </a:lnTo>
                  <a:close/>
                </a:path>
              </a:pathLst>
            </a:custGeom>
            <a:solidFill>
              <a:srgbClr val="D8D3CB"/>
            </a:solidFill>
            <a:ln cap="sq">
              <a:noFill/>
              <a:prstDash val="solid"/>
              <a:miter/>
            </a:ln>
          </p:spPr>
        </p:sp>
        <p:sp>
          <p:nvSpPr>
            <p:cNvPr name="TextBox 4" id="4"/>
            <p:cNvSpPr txBox="true"/>
            <p:nvPr/>
          </p:nvSpPr>
          <p:spPr>
            <a:xfrm>
              <a:off x="0" y="-38100"/>
              <a:ext cx="2069630" cy="2747433"/>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708153" y="7606302"/>
            <a:ext cx="2112604" cy="1859092"/>
          </a:xfrm>
          <a:custGeom>
            <a:avLst/>
            <a:gdLst/>
            <a:ahLst/>
            <a:cxnLst/>
            <a:rect r="r" b="b" t="t" l="l"/>
            <a:pathLst>
              <a:path h="1859092" w="2112604">
                <a:moveTo>
                  <a:pt x="0" y="0"/>
                </a:moveTo>
                <a:lnTo>
                  <a:pt x="2112604" y="0"/>
                </a:lnTo>
                <a:lnTo>
                  <a:pt x="2112604"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745496" y="325384"/>
            <a:ext cx="3741483" cy="3628824"/>
          </a:xfrm>
          <a:custGeom>
            <a:avLst/>
            <a:gdLst/>
            <a:ahLst/>
            <a:cxnLst/>
            <a:rect r="r" b="b" t="t" l="l"/>
            <a:pathLst>
              <a:path h="3628824" w="3741483">
                <a:moveTo>
                  <a:pt x="0" y="0"/>
                </a:moveTo>
                <a:lnTo>
                  <a:pt x="3741483" y="0"/>
                </a:lnTo>
                <a:lnTo>
                  <a:pt x="3741483" y="3628824"/>
                </a:lnTo>
                <a:lnTo>
                  <a:pt x="0" y="3628824"/>
                </a:lnTo>
                <a:lnTo>
                  <a:pt x="0" y="0"/>
                </a:lnTo>
                <a:close/>
              </a:path>
            </a:pathLst>
          </a:custGeom>
          <a:blipFill>
            <a:blip r:embed="rId4"/>
            <a:stretch>
              <a:fillRect l="0" t="-8966" r="0" b="-44039"/>
            </a:stretch>
          </a:blipFill>
        </p:spPr>
      </p:sp>
      <p:sp>
        <p:nvSpPr>
          <p:cNvPr name="Freeform 7" id="7"/>
          <p:cNvSpPr/>
          <p:nvPr/>
        </p:nvSpPr>
        <p:spPr>
          <a:xfrm flipH="false" flipV="false" rot="0">
            <a:off x="8538469" y="325384"/>
            <a:ext cx="4392413" cy="3628824"/>
          </a:xfrm>
          <a:custGeom>
            <a:avLst/>
            <a:gdLst/>
            <a:ahLst/>
            <a:cxnLst/>
            <a:rect r="r" b="b" t="t" l="l"/>
            <a:pathLst>
              <a:path h="3628824" w="4392413">
                <a:moveTo>
                  <a:pt x="0" y="0"/>
                </a:moveTo>
                <a:lnTo>
                  <a:pt x="4392412" y="0"/>
                </a:lnTo>
                <a:lnTo>
                  <a:pt x="4392412" y="3628824"/>
                </a:lnTo>
                <a:lnTo>
                  <a:pt x="0" y="3628824"/>
                </a:lnTo>
                <a:lnTo>
                  <a:pt x="0" y="0"/>
                </a:lnTo>
                <a:close/>
              </a:path>
            </a:pathLst>
          </a:custGeom>
          <a:blipFill>
            <a:blip r:embed="rId5"/>
            <a:stretch>
              <a:fillRect l="0" t="0" r="0" b="-51206"/>
            </a:stretch>
          </a:blipFill>
        </p:spPr>
      </p:sp>
      <p:sp>
        <p:nvSpPr>
          <p:cNvPr name="Freeform 8" id="8"/>
          <p:cNvSpPr/>
          <p:nvPr/>
        </p:nvSpPr>
        <p:spPr>
          <a:xfrm flipH="false" flipV="false" rot="0">
            <a:off x="8538469" y="4776121"/>
            <a:ext cx="4542690" cy="4707445"/>
          </a:xfrm>
          <a:custGeom>
            <a:avLst/>
            <a:gdLst/>
            <a:ahLst/>
            <a:cxnLst/>
            <a:rect r="r" b="b" t="t" l="l"/>
            <a:pathLst>
              <a:path h="4707445" w="4542690">
                <a:moveTo>
                  <a:pt x="0" y="0"/>
                </a:moveTo>
                <a:lnTo>
                  <a:pt x="4542690" y="0"/>
                </a:lnTo>
                <a:lnTo>
                  <a:pt x="4542690" y="4707445"/>
                </a:lnTo>
                <a:lnTo>
                  <a:pt x="0" y="4707445"/>
                </a:lnTo>
                <a:lnTo>
                  <a:pt x="0" y="0"/>
                </a:lnTo>
                <a:close/>
              </a:path>
            </a:pathLst>
          </a:custGeom>
          <a:blipFill>
            <a:blip r:embed="rId6"/>
            <a:stretch>
              <a:fillRect l="-8692" t="-6482" r="-4958" b="-8043"/>
            </a:stretch>
          </a:blipFill>
        </p:spPr>
      </p:sp>
      <p:sp>
        <p:nvSpPr>
          <p:cNvPr name="Freeform 9" id="9"/>
          <p:cNvSpPr/>
          <p:nvPr/>
        </p:nvSpPr>
        <p:spPr>
          <a:xfrm flipH="false" flipV="false" rot="0">
            <a:off x="13546066" y="5001387"/>
            <a:ext cx="4408886" cy="4707445"/>
          </a:xfrm>
          <a:custGeom>
            <a:avLst/>
            <a:gdLst/>
            <a:ahLst/>
            <a:cxnLst/>
            <a:rect r="r" b="b" t="t" l="l"/>
            <a:pathLst>
              <a:path h="4707445" w="4408886">
                <a:moveTo>
                  <a:pt x="0" y="0"/>
                </a:moveTo>
                <a:lnTo>
                  <a:pt x="4408886" y="0"/>
                </a:lnTo>
                <a:lnTo>
                  <a:pt x="4408886" y="4707445"/>
                </a:lnTo>
                <a:lnTo>
                  <a:pt x="0" y="4707445"/>
                </a:lnTo>
                <a:lnTo>
                  <a:pt x="0" y="0"/>
                </a:lnTo>
                <a:close/>
              </a:path>
            </a:pathLst>
          </a:custGeom>
          <a:blipFill>
            <a:blip r:embed="rId7"/>
            <a:stretch>
              <a:fillRect l="0" t="-4623" r="0" b="-7622"/>
            </a:stretch>
          </a:blipFill>
        </p:spPr>
      </p:sp>
      <p:sp>
        <p:nvSpPr>
          <p:cNvPr name="TextBox 10" id="10"/>
          <p:cNvSpPr txBox="true"/>
          <p:nvPr/>
        </p:nvSpPr>
        <p:spPr>
          <a:xfrm rot="0">
            <a:off x="666750" y="733425"/>
            <a:ext cx="5753100" cy="5607052"/>
          </a:xfrm>
          <a:prstGeom prst="rect">
            <a:avLst/>
          </a:prstGeom>
        </p:spPr>
        <p:txBody>
          <a:bodyPr anchor="t" rtlCol="false" tIns="0" lIns="0" bIns="0" rIns="0">
            <a:spAutoFit/>
          </a:bodyPr>
          <a:lstStyle/>
          <a:p>
            <a:pPr algn="l" marL="0" indent="0" lvl="0">
              <a:lnSpc>
                <a:spcPts val="8800"/>
              </a:lnSpc>
            </a:pPr>
            <a:r>
              <a:rPr lang="en-US" sz="8000" spc="-240">
                <a:solidFill>
                  <a:srgbClr val="5A6A45"/>
                </a:solidFill>
                <a:latin typeface="Georgia Pro Condensed"/>
                <a:ea typeface="Georgia Pro Condensed"/>
                <a:cs typeface="Georgia Pro Condensed"/>
                <a:sym typeface="Georgia Pro Condensed"/>
              </a:rPr>
              <a:t>Exploratory Data Analysis: Insights from Customer Spending</a:t>
            </a:r>
          </a:p>
        </p:txBody>
      </p:sp>
      <p:sp>
        <p:nvSpPr>
          <p:cNvPr name="TextBox 11" id="11"/>
          <p:cNvSpPr txBox="true"/>
          <p:nvPr/>
        </p:nvSpPr>
        <p:spPr>
          <a:xfrm rot="0">
            <a:off x="8797137" y="4248912"/>
            <a:ext cx="4009347" cy="457200"/>
          </a:xfrm>
          <a:prstGeom prst="rect">
            <a:avLst/>
          </a:prstGeom>
        </p:spPr>
        <p:txBody>
          <a:bodyPr anchor="t" rtlCol="false" tIns="0" lIns="0" bIns="0" rIns="0">
            <a:spAutoFit/>
          </a:bodyPr>
          <a:lstStyle/>
          <a:p>
            <a:pPr algn="l" marL="0" indent="0" lvl="0">
              <a:lnSpc>
                <a:spcPts val="3360"/>
              </a:lnSpc>
              <a:spcBef>
                <a:spcPct val="0"/>
              </a:spcBef>
            </a:pPr>
            <a:r>
              <a:rPr lang="en-US" b="true" sz="2800" spc="-42">
                <a:solidFill>
                  <a:srgbClr val="5A6A45"/>
                </a:solidFill>
                <a:latin typeface="Helvetica World Bold"/>
                <a:ea typeface="Helvetica World Bold"/>
                <a:cs typeface="Helvetica World Bold"/>
                <a:sym typeface="Helvetica World Bold"/>
              </a:rPr>
              <a:t>Product Analysis</a:t>
            </a:r>
          </a:p>
        </p:txBody>
      </p:sp>
      <p:grpSp>
        <p:nvGrpSpPr>
          <p:cNvPr name="Group 12" id="12"/>
          <p:cNvGrpSpPr/>
          <p:nvPr/>
        </p:nvGrpSpPr>
        <p:grpSpPr>
          <a:xfrm rot="0">
            <a:off x="13745496" y="4248912"/>
            <a:ext cx="4010025" cy="894588"/>
            <a:chOff x="0" y="0"/>
            <a:chExt cx="5346700" cy="1192784"/>
          </a:xfrm>
        </p:grpSpPr>
        <p:sp>
          <p:nvSpPr>
            <p:cNvPr name="TextBox 13" id="13"/>
            <p:cNvSpPr txBox="true"/>
            <p:nvPr/>
          </p:nvSpPr>
          <p:spPr>
            <a:xfrm rot="0">
              <a:off x="0" y="0"/>
              <a:ext cx="5345796" cy="609600"/>
            </a:xfrm>
            <a:prstGeom prst="rect">
              <a:avLst/>
            </a:prstGeom>
          </p:spPr>
          <p:txBody>
            <a:bodyPr anchor="t" rtlCol="false" tIns="0" lIns="0" bIns="0" rIns="0">
              <a:spAutoFit/>
            </a:bodyPr>
            <a:lstStyle/>
            <a:p>
              <a:pPr algn="l" marL="0" indent="0" lvl="0">
                <a:lnSpc>
                  <a:spcPts val="3360"/>
                </a:lnSpc>
                <a:spcBef>
                  <a:spcPct val="0"/>
                </a:spcBef>
              </a:pPr>
              <a:r>
                <a:rPr lang="en-US" b="true" sz="2800" spc="-42">
                  <a:solidFill>
                    <a:srgbClr val="5A6A45"/>
                  </a:solidFill>
                  <a:latin typeface="Helvetica World Bold"/>
                  <a:ea typeface="Helvetica World Bold"/>
                  <a:cs typeface="Helvetica World Bold"/>
                  <a:sym typeface="Helvetica World Bold"/>
                </a:rPr>
                <a:t>Sales Overview</a:t>
              </a:r>
            </a:p>
          </p:txBody>
        </p:sp>
        <p:sp>
          <p:nvSpPr>
            <p:cNvPr name="TextBox 14" id="14"/>
            <p:cNvSpPr txBox="true"/>
            <p:nvPr/>
          </p:nvSpPr>
          <p:spPr>
            <a:xfrm rot="0">
              <a:off x="0" y="781939"/>
              <a:ext cx="5346700" cy="410845"/>
            </a:xfrm>
            <a:prstGeom prst="rect">
              <a:avLst/>
            </a:prstGeom>
          </p:spPr>
          <p:txBody>
            <a:bodyPr anchor="t" rtlCol="false" tIns="0" lIns="0" bIns="0" rIns="0">
              <a:spAutoFit/>
            </a:bodyPr>
            <a:lstStyle/>
            <a:p>
              <a:pPr algn="l" marL="0" indent="0" lvl="0">
                <a:lnSpc>
                  <a:spcPts val="2580"/>
                </a:lnSpc>
              </a:pPr>
            </a:p>
          </p:txBody>
        </p:sp>
      </p:grpSp>
      <p:grpSp>
        <p:nvGrpSpPr>
          <p:cNvPr name="Group 15" id="15"/>
          <p:cNvGrpSpPr/>
          <p:nvPr/>
        </p:nvGrpSpPr>
        <p:grpSpPr>
          <a:xfrm rot="0">
            <a:off x="8804801" y="9553575"/>
            <a:ext cx="4010025" cy="894588"/>
            <a:chOff x="0" y="0"/>
            <a:chExt cx="5346700" cy="1192784"/>
          </a:xfrm>
        </p:grpSpPr>
        <p:sp>
          <p:nvSpPr>
            <p:cNvPr name="TextBox 16" id="16"/>
            <p:cNvSpPr txBox="true"/>
            <p:nvPr/>
          </p:nvSpPr>
          <p:spPr>
            <a:xfrm rot="0">
              <a:off x="0" y="0"/>
              <a:ext cx="5345796" cy="609600"/>
            </a:xfrm>
            <a:prstGeom prst="rect">
              <a:avLst/>
            </a:prstGeom>
          </p:spPr>
          <p:txBody>
            <a:bodyPr anchor="t" rtlCol="false" tIns="0" lIns="0" bIns="0" rIns="0">
              <a:spAutoFit/>
            </a:bodyPr>
            <a:lstStyle/>
            <a:p>
              <a:pPr algn="l" marL="0" indent="0" lvl="0">
                <a:lnSpc>
                  <a:spcPts val="3360"/>
                </a:lnSpc>
                <a:spcBef>
                  <a:spcPct val="0"/>
                </a:spcBef>
              </a:pPr>
              <a:r>
                <a:rPr lang="en-US" b="true" sz="2800" spc="-42">
                  <a:solidFill>
                    <a:srgbClr val="5A6A45"/>
                  </a:solidFill>
                  <a:latin typeface="Helvetica World Bold"/>
                  <a:ea typeface="Helvetica World Bold"/>
                  <a:cs typeface="Helvetica World Bold"/>
                  <a:sym typeface="Helvetica World Bold"/>
                </a:rPr>
                <a:t>Income Insights</a:t>
              </a:r>
            </a:p>
          </p:txBody>
        </p:sp>
        <p:sp>
          <p:nvSpPr>
            <p:cNvPr name="TextBox 17" id="17"/>
            <p:cNvSpPr txBox="true"/>
            <p:nvPr/>
          </p:nvSpPr>
          <p:spPr>
            <a:xfrm rot="0">
              <a:off x="0" y="781939"/>
              <a:ext cx="5346700" cy="410845"/>
            </a:xfrm>
            <a:prstGeom prst="rect">
              <a:avLst/>
            </a:prstGeom>
          </p:spPr>
          <p:txBody>
            <a:bodyPr anchor="t" rtlCol="false" tIns="0" lIns="0" bIns="0" rIns="0">
              <a:spAutoFit/>
            </a:bodyPr>
            <a:lstStyle/>
            <a:p>
              <a:pPr algn="l" marL="0" indent="0" lvl="0">
                <a:lnSpc>
                  <a:spcPts val="2580"/>
                </a:lnSpc>
              </a:pPr>
            </a:p>
          </p:txBody>
        </p:sp>
      </p:grpSp>
      <p:grpSp>
        <p:nvGrpSpPr>
          <p:cNvPr name="Group 18" id="18"/>
          <p:cNvGrpSpPr/>
          <p:nvPr/>
        </p:nvGrpSpPr>
        <p:grpSpPr>
          <a:xfrm rot="0">
            <a:off x="13476954" y="9708832"/>
            <a:ext cx="4010025" cy="1218438"/>
            <a:chOff x="0" y="0"/>
            <a:chExt cx="5346700" cy="1624584"/>
          </a:xfrm>
        </p:grpSpPr>
        <p:sp>
          <p:nvSpPr>
            <p:cNvPr name="TextBox 19" id="19"/>
            <p:cNvSpPr txBox="true"/>
            <p:nvPr/>
          </p:nvSpPr>
          <p:spPr>
            <a:xfrm rot="0">
              <a:off x="0" y="0"/>
              <a:ext cx="5345796" cy="609600"/>
            </a:xfrm>
            <a:prstGeom prst="rect">
              <a:avLst/>
            </a:prstGeom>
          </p:spPr>
          <p:txBody>
            <a:bodyPr anchor="t" rtlCol="false" tIns="0" lIns="0" bIns="0" rIns="0">
              <a:spAutoFit/>
            </a:bodyPr>
            <a:lstStyle/>
            <a:p>
              <a:pPr algn="l" marL="0" indent="0" lvl="0">
                <a:lnSpc>
                  <a:spcPts val="3360"/>
                </a:lnSpc>
                <a:spcBef>
                  <a:spcPct val="0"/>
                </a:spcBef>
              </a:pPr>
              <a:r>
                <a:rPr lang="en-US" b="true" sz="2800" spc="-42">
                  <a:solidFill>
                    <a:srgbClr val="5A6A45"/>
                  </a:solidFill>
                  <a:latin typeface="Helvetica World Bold"/>
                  <a:ea typeface="Helvetica World Bold"/>
                  <a:cs typeface="Helvetica World Bold"/>
                  <a:sym typeface="Helvetica World Bold"/>
                </a:rPr>
                <a:t>Purchase Behavior</a:t>
              </a:r>
            </a:p>
          </p:txBody>
        </p:sp>
        <p:sp>
          <p:nvSpPr>
            <p:cNvPr name="TextBox 20" id="20"/>
            <p:cNvSpPr txBox="true"/>
            <p:nvPr/>
          </p:nvSpPr>
          <p:spPr>
            <a:xfrm rot="0">
              <a:off x="0" y="781939"/>
              <a:ext cx="5346700" cy="842645"/>
            </a:xfrm>
            <a:prstGeom prst="rect">
              <a:avLst/>
            </a:prstGeom>
          </p:spPr>
          <p:txBody>
            <a:bodyPr anchor="t" rtlCol="false" tIns="0" lIns="0" bIns="0" rIns="0">
              <a:spAutoFit/>
            </a:bodyPr>
            <a:lstStyle/>
            <a:p>
              <a:pPr algn="l" marL="0" indent="0" lvl="0">
                <a:lnSpc>
                  <a:spcPts val="2580"/>
                </a:lnSpc>
              </a:pPr>
              <a:r>
                <a:rPr lang="en-US" sz="2000" spc="-30">
                  <a:solidFill>
                    <a:srgbClr val="5A6A45"/>
                  </a:solidFill>
                  <a:latin typeface="Helvetica World"/>
                  <a:ea typeface="Helvetica World"/>
                  <a:cs typeface="Helvetica World"/>
                  <a:sym typeface="Helvetica World"/>
                </a:rPr>
                <a:t>Highlights trends across different buying channels.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8CB369"/>
        </a:solidFill>
      </p:bgPr>
    </p:bg>
    <p:spTree>
      <p:nvGrpSpPr>
        <p:cNvPr id="1" name=""/>
        <p:cNvGrpSpPr/>
        <p:nvPr/>
      </p:nvGrpSpPr>
      <p:grpSpPr>
        <a:xfrm>
          <a:off x="0" y="0"/>
          <a:ext cx="0" cy="0"/>
          <a:chOff x="0" y="0"/>
          <a:chExt cx="0" cy="0"/>
        </a:xfrm>
      </p:grpSpPr>
      <p:grpSp>
        <p:nvGrpSpPr>
          <p:cNvPr name="Group 2" id="2"/>
          <p:cNvGrpSpPr/>
          <p:nvPr/>
        </p:nvGrpSpPr>
        <p:grpSpPr>
          <a:xfrm rot="0">
            <a:off x="102870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0E2B6"/>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8CB369"/>
            </a:solidFill>
          </p:spPr>
        </p:sp>
      </p:grpSp>
      <p:sp>
        <p:nvSpPr>
          <p:cNvPr name="Freeform 5" id="5"/>
          <p:cNvSpPr/>
          <p:nvPr/>
        </p:nvSpPr>
        <p:spPr>
          <a:xfrm flipH="false" flipV="false" rot="0">
            <a:off x="3493371" y="3711831"/>
            <a:ext cx="11301259" cy="4315052"/>
          </a:xfrm>
          <a:custGeom>
            <a:avLst/>
            <a:gdLst/>
            <a:ahLst/>
            <a:cxnLst/>
            <a:rect r="r" b="b" t="t" l="l"/>
            <a:pathLst>
              <a:path h="4315052" w="11301259">
                <a:moveTo>
                  <a:pt x="0" y="0"/>
                </a:moveTo>
                <a:lnTo>
                  <a:pt x="11301258" y="0"/>
                </a:lnTo>
                <a:lnTo>
                  <a:pt x="11301258" y="4315052"/>
                </a:lnTo>
                <a:lnTo>
                  <a:pt x="0" y="4315052"/>
                </a:lnTo>
                <a:lnTo>
                  <a:pt x="0" y="0"/>
                </a:lnTo>
                <a:close/>
              </a:path>
            </a:pathLst>
          </a:custGeom>
          <a:blipFill>
            <a:blip r:embed="rId2"/>
            <a:stretch>
              <a:fillRect l="0" t="0" r="0" b="-1160"/>
            </a:stretch>
          </a:blipFill>
        </p:spPr>
      </p:sp>
      <p:sp>
        <p:nvSpPr>
          <p:cNvPr name="TextBox 6" id="6"/>
          <p:cNvSpPr txBox="true"/>
          <p:nvPr/>
        </p:nvSpPr>
        <p:spPr>
          <a:xfrm rot="0">
            <a:off x="666750" y="1269904"/>
            <a:ext cx="16954500" cy="1352550"/>
          </a:xfrm>
          <a:prstGeom prst="rect">
            <a:avLst/>
          </a:prstGeom>
        </p:spPr>
        <p:txBody>
          <a:bodyPr anchor="t" rtlCol="false" tIns="0" lIns="0" bIns="0" rIns="0">
            <a:spAutoFit/>
          </a:bodyPr>
          <a:lstStyle/>
          <a:p>
            <a:pPr algn="ctr">
              <a:lnSpc>
                <a:spcPts val="9839"/>
              </a:lnSpc>
              <a:spcBef>
                <a:spcPct val="0"/>
              </a:spcBef>
            </a:pPr>
            <a:r>
              <a:rPr lang="en-US" b="true" sz="8199" spc="-122">
                <a:solidFill>
                  <a:srgbClr val="FAAB1E"/>
                </a:solidFill>
                <a:latin typeface="Helvetica World Bold"/>
                <a:ea typeface="Helvetica World Bold"/>
                <a:cs typeface="Helvetica World Bold"/>
                <a:sym typeface="Helvetica World Bold"/>
              </a:rPr>
              <a:t>DashBoard</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557A46"/>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0E2B6"/>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729850"/>
            </a:solidFill>
          </p:spPr>
        </p:sp>
      </p:grpSp>
      <p:grpSp>
        <p:nvGrpSpPr>
          <p:cNvPr name="Group 5" id="5"/>
          <p:cNvGrpSpPr/>
          <p:nvPr/>
        </p:nvGrpSpPr>
        <p:grpSpPr>
          <a:xfrm rot="0">
            <a:off x="1800225" y="3764449"/>
            <a:ext cx="4717524" cy="4960451"/>
            <a:chOff x="0" y="0"/>
            <a:chExt cx="1242476" cy="1306456"/>
          </a:xfrm>
        </p:grpSpPr>
        <p:sp>
          <p:nvSpPr>
            <p:cNvPr name="Freeform 6" id="6"/>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8" id="8"/>
          <p:cNvGrpSpPr/>
          <p:nvPr/>
        </p:nvGrpSpPr>
        <p:grpSpPr>
          <a:xfrm rot="0">
            <a:off x="6785238" y="3764449"/>
            <a:ext cx="4717524" cy="4960451"/>
            <a:chOff x="0" y="0"/>
            <a:chExt cx="1242476" cy="1306456"/>
          </a:xfrm>
        </p:grpSpPr>
        <p:sp>
          <p:nvSpPr>
            <p:cNvPr name="Freeform 9" id="9"/>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0" id="10"/>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11" id="11"/>
          <p:cNvGrpSpPr/>
          <p:nvPr/>
        </p:nvGrpSpPr>
        <p:grpSpPr>
          <a:xfrm rot="0">
            <a:off x="11770251" y="3764449"/>
            <a:ext cx="4717524" cy="4960451"/>
            <a:chOff x="0" y="0"/>
            <a:chExt cx="1242476" cy="1306456"/>
          </a:xfrm>
        </p:grpSpPr>
        <p:sp>
          <p:nvSpPr>
            <p:cNvPr name="Freeform 12" id="12"/>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3" id="13"/>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sp>
        <p:nvSpPr>
          <p:cNvPr name="TextBox 14" id="14"/>
          <p:cNvSpPr txBox="true"/>
          <p:nvPr/>
        </p:nvSpPr>
        <p:spPr>
          <a:xfrm rot="0">
            <a:off x="2105025" y="1504950"/>
            <a:ext cx="14077950" cy="1543050"/>
          </a:xfrm>
          <a:prstGeom prst="rect">
            <a:avLst/>
          </a:prstGeom>
        </p:spPr>
        <p:txBody>
          <a:bodyPr anchor="t" rtlCol="false" tIns="0" lIns="0" bIns="0" rIns="0">
            <a:spAutoFit/>
          </a:bodyPr>
          <a:lstStyle/>
          <a:p>
            <a:pPr algn="ctr" marL="0" indent="0" lvl="0">
              <a:lnSpc>
                <a:spcPts val="5872"/>
              </a:lnSpc>
            </a:pPr>
            <a:r>
              <a:rPr lang="en-US" b="true" sz="4893" spc="-122">
                <a:solidFill>
                  <a:srgbClr val="557A46"/>
                </a:solidFill>
                <a:latin typeface="Gatwick Ultra-Bold"/>
                <a:ea typeface="Gatwick Ultra-Bold"/>
                <a:cs typeface="Gatwick Ultra-Bold"/>
                <a:sym typeface="Gatwick Ultra-Bold"/>
              </a:rPr>
              <a:t>Formula-Based Analysis: Quantifying Customer Data</a:t>
            </a:r>
          </a:p>
        </p:txBody>
      </p:sp>
      <p:grpSp>
        <p:nvGrpSpPr>
          <p:cNvPr name="Group 15" id="15"/>
          <p:cNvGrpSpPr/>
          <p:nvPr/>
        </p:nvGrpSpPr>
        <p:grpSpPr>
          <a:xfrm rot="0">
            <a:off x="2178450" y="4248150"/>
            <a:ext cx="3961075" cy="3158463"/>
            <a:chOff x="0" y="0"/>
            <a:chExt cx="5281434" cy="4211284"/>
          </a:xfrm>
        </p:grpSpPr>
        <p:sp>
          <p:nvSpPr>
            <p:cNvPr name="TextBox 16" id="16"/>
            <p:cNvSpPr txBox="true"/>
            <p:nvPr/>
          </p:nvSpPr>
          <p:spPr>
            <a:xfrm rot="0">
              <a:off x="0" y="1061049"/>
              <a:ext cx="5281434" cy="3150235"/>
            </a:xfrm>
            <a:prstGeom prst="rect">
              <a:avLst/>
            </a:prstGeom>
          </p:spPr>
          <p:txBody>
            <a:bodyPr anchor="t" rtlCol="false" tIns="0" lIns="0" bIns="0" rIns="0">
              <a:spAutoFit/>
            </a:bodyPr>
            <a:lstStyle/>
            <a:p>
              <a:pPr algn="ctr" marL="0" indent="0" lvl="0">
                <a:lnSpc>
                  <a:spcPts val="3120"/>
                </a:lnSpc>
              </a:pPr>
              <a:r>
                <a:rPr lang="en-US" sz="2400">
                  <a:solidFill>
                    <a:srgbClr val="405931"/>
                  </a:solidFill>
                  <a:latin typeface="Codec Pro"/>
                  <a:ea typeface="Codec Pro"/>
                  <a:cs typeface="Codec Pro"/>
                  <a:sym typeface="Codec Pro"/>
                </a:rPr>
                <a:t>Understanding the essential functions like SUM, AVERAGE, and MAX helps aggregate customer data effectively for deeper insights.</a:t>
              </a:r>
            </a:p>
          </p:txBody>
        </p:sp>
        <p:sp>
          <p:nvSpPr>
            <p:cNvPr name="TextBox 17" id="17"/>
            <p:cNvSpPr txBox="true"/>
            <p:nvPr/>
          </p:nvSpPr>
          <p:spPr>
            <a:xfrm rot="0">
              <a:off x="0" y="-66675"/>
              <a:ext cx="5281434" cy="1092835"/>
            </a:xfrm>
            <a:prstGeom prst="rect">
              <a:avLst/>
            </a:prstGeom>
          </p:spPr>
          <p:txBody>
            <a:bodyPr anchor="t" rtlCol="false" tIns="0" lIns="0" bIns="0" rIns="0">
              <a:spAutoFit/>
            </a:bodyPr>
            <a:lstStyle/>
            <a:p>
              <a:pPr algn="ctr" marL="0" indent="0" lvl="0">
                <a:lnSpc>
                  <a:spcPts val="3120"/>
                </a:lnSpc>
              </a:pPr>
              <a:r>
                <a:rPr lang="en-US" b="true" sz="2400">
                  <a:solidFill>
                    <a:srgbClr val="405931"/>
                  </a:solidFill>
                  <a:latin typeface="Codec Pro Ultra-Bold"/>
                  <a:ea typeface="Codec Pro Ultra-Bold"/>
                  <a:cs typeface="Codec Pro Ultra-Bold"/>
                  <a:sym typeface="Codec Pro Ultra-Bold"/>
                </a:rPr>
                <a:t>Key Excel Functions Explained</a:t>
              </a:r>
            </a:p>
          </p:txBody>
        </p:sp>
      </p:grpSp>
      <p:grpSp>
        <p:nvGrpSpPr>
          <p:cNvPr name="Group 18" id="18"/>
          <p:cNvGrpSpPr/>
          <p:nvPr/>
        </p:nvGrpSpPr>
        <p:grpSpPr>
          <a:xfrm rot="0">
            <a:off x="7163462" y="4248150"/>
            <a:ext cx="3961075" cy="3158490"/>
            <a:chOff x="0" y="0"/>
            <a:chExt cx="5281434" cy="4211320"/>
          </a:xfrm>
        </p:grpSpPr>
        <p:sp>
          <p:nvSpPr>
            <p:cNvPr name="TextBox 19" id="19"/>
            <p:cNvSpPr txBox="true"/>
            <p:nvPr/>
          </p:nvSpPr>
          <p:spPr>
            <a:xfrm rot="0">
              <a:off x="0" y="1061085"/>
              <a:ext cx="5281434" cy="3150235"/>
            </a:xfrm>
            <a:prstGeom prst="rect">
              <a:avLst/>
            </a:prstGeom>
          </p:spPr>
          <p:txBody>
            <a:bodyPr anchor="t" rtlCol="false" tIns="0" lIns="0" bIns="0" rIns="0">
              <a:spAutoFit/>
            </a:bodyPr>
            <a:lstStyle/>
            <a:p>
              <a:pPr algn="ctr" marL="0" indent="0" lvl="0">
                <a:lnSpc>
                  <a:spcPts val="3120"/>
                </a:lnSpc>
              </a:pPr>
              <a:r>
                <a:rPr lang="en-US" sz="2400">
                  <a:solidFill>
                    <a:srgbClr val="405931"/>
                  </a:solidFill>
                  <a:latin typeface="Codec Pro"/>
                  <a:ea typeface="Codec Pro"/>
                  <a:cs typeface="Codec Pro"/>
                  <a:sym typeface="Codec Pro"/>
                </a:rPr>
                <a:t>Using IF, AND, and OR functions allows for conditional logic, enabling better categorization and understanding of customer behaviors.</a:t>
              </a:r>
            </a:p>
          </p:txBody>
        </p:sp>
        <p:sp>
          <p:nvSpPr>
            <p:cNvPr name="TextBox 20" id="20"/>
            <p:cNvSpPr txBox="true"/>
            <p:nvPr/>
          </p:nvSpPr>
          <p:spPr>
            <a:xfrm rot="0">
              <a:off x="0" y="-66675"/>
              <a:ext cx="5281434" cy="1092835"/>
            </a:xfrm>
            <a:prstGeom prst="rect">
              <a:avLst/>
            </a:prstGeom>
          </p:spPr>
          <p:txBody>
            <a:bodyPr anchor="t" rtlCol="false" tIns="0" lIns="0" bIns="0" rIns="0">
              <a:spAutoFit/>
            </a:bodyPr>
            <a:lstStyle/>
            <a:p>
              <a:pPr algn="ctr" marL="0" indent="0" lvl="0">
                <a:lnSpc>
                  <a:spcPts val="3120"/>
                </a:lnSpc>
              </a:pPr>
              <a:r>
                <a:rPr lang="en-US" b="true" sz="2400">
                  <a:solidFill>
                    <a:srgbClr val="405931"/>
                  </a:solidFill>
                  <a:latin typeface="Codec Pro Ultra-Bold"/>
                  <a:ea typeface="Codec Pro Ultra-Bold"/>
                  <a:cs typeface="Codec Pro Ultra-Bold"/>
                  <a:sym typeface="Codec Pro Ultra-Bold"/>
                </a:rPr>
                <a:t>Logical Functions for Analysis</a:t>
              </a:r>
            </a:p>
          </p:txBody>
        </p:sp>
      </p:grpSp>
      <p:grpSp>
        <p:nvGrpSpPr>
          <p:cNvPr name="Group 21" id="21"/>
          <p:cNvGrpSpPr/>
          <p:nvPr/>
        </p:nvGrpSpPr>
        <p:grpSpPr>
          <a:xfrm rot="0">
            <a:off x="12148475" y="4248150"/>
            <a:ext cx="3961075" cy="3549015"/>
            <a:chOff x="0" y="0"/>
            <a:chExt cx="5281434" cy="4732020"/>
          </a:xfrm>
        </p:grpSpPr>
        <p:sp>
          <p:nvSpPr>
            <p:cNvPr name="TextBox 22" id="22"/>
            <p:cNvSpPr txBox="true"/>
            <p:nvPr/>
          </p:nvSpPr>
          <p:spPr>
            <a:xfrm rot="0">
              <a:off x="0" y="1061085"/>
              <a:ext cx="5281434" cy="3670935"/>
            </a:xfrm>
            <a:prstGeom prst="rect">
              <a:avLst/>
            </a:prstGeom>
          </p:spPr>
          <p:txBody>
            <a:bodyPr anchor="t" rtlCol="false" tIns="0" lIns="0" bIns="0" rIns="0">
              <a:spAutoFit/>
            </a:bodyPr>
            <a:lstStyle/>
            <a:p>
              <a:pPr algn="ctr" marL="0" indent="0" lvl="0">
                <a:lnSpc>
                  <a:spcPts val="3120"/>
                </a:lnSpc>
              </a:pPr>
              <a:r>
                <a:rPr lang="en-US" sz="2400">
                  <a:solidFill>
                    <a:srgbClr val="405931"/>
                  </a:solidFill>
                  <a:latin typeface="Codec Pro"/>
                  <a:ea typeface="Codec Pro"/>
                  <a:cs typeface="Codec Pro"/>
                  <a:sym typeface="Codec Pro"/>
                </a:rPr>
                <a:t>VLOOKUP and INDEX/MATCH functions are crucial for retrieving specific customer data, ensuring accurate analysis and segmentation insights.</a:t>
              </a:r>
            </a:p>
          </p:txBody>
        </p:sp>
        <p:sp>
          <p:nvSpPr>
            <p:cNvPr name="TextBox 23" id="23"/>
            <p:cNvSpPr txBox="true"/>
            <p:nvPr/>
          </p:nvSpPr>
          <p:spPr>
            <a:xfrm rot="0">
              <a:off x="0" y="-66675"/>
              <a:ext cx="5281434" cy="1092835"/>
            </a:xfrm>
            <a:prstGeom prst="rect">
              <a:avLst/>
            </a:prstGeom>
          </p:spPr>
          <p:txBody>
            <a:bodyPr anchor="t" rtlCol="false" tIns="0" lIns="0" bIns="0" rIns="0">
              <a:spAutoFit/>
            </a:bodyPr>
            <a:lstStyle/>
            <a:p>
              <a:pPr algn="ctr" marL="0" indent="0" lvl="0">
                <a:lnSpc>
                  <a:spcPts val="3120"/>
                </a:lnSpc>
              </a:pPr>
              <a:r>
                <a:rPr lang="en-US" b="true" sz="2400">
                  <a:solidFill>
                    <a:srgbClr val="405931"/>
                  </a:solidFill>
                  <a:latin typeface="Codec Pro Ultra-Bold"/>
                  <a:ea typeface="Codec Pro Ultra-Bold"/>
                  <a:cs typeface="Codec Pro Ultra-Bold"/>
                  <a:sym typeface="Codec Pro Ultra-Bold"/>
                </a:rPr>
                <a:t>Lookup Functions for Data Retrieval</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557A46"/>
        </a:solidFill>
      </p:bgPr>
    </p:bg>
    <p:spTree>
      <p:nvGrpSpPr>
        <p:cNvPr id="1" name=""/>
        <p:cNvGrpSpPr/>
        <p:nvPr/>
      </p:nvGrpSpPr>
      <p:grpSpPr>
        <a:xfrm>
          <a:off x="0" y="0"/>
          <a:ext cx="0" cy="0"/>
          <a:chOff x="0" y="0"/>
          <a:chExt cx="0" cy="0"/>
        </a:xfrm>
      </p:grpSpPr>
      <p:grpSp>
        <p:nvGrpSpPr>
          <p:cNvPr name="Group 2" id="2"/>
          <p:cNvGrpSpPr/>
          <p:nvPr/>
        </p:nvGrpSpPr>
        <p:grpSpPr>
          <a:xfrm rot="0">
            <a:off x="133350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0E2B6"/>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8CB369"/>
            </a:solidFill>
          </p:spPr>
        </p:sp>
      </p:grpSp>
      <p:sp>
        <p:nvSpPr>
          <p:cNvPr name="Freeform 5" id="5"/>
          <p:cNvSpPr/>
          <p:nvPr/>
        </p:nvSpPr>
        <p:spPr>
          <a:xfrm flipH="false" flipV="false" rot="0">
            <a:off x="2104466" y="2596135"/>
            <a:ext cx="5368783" cy="5995795"/>
          </a:xfrm>
          <a:custGeom>
            <a:avLst/>
            <a:gdLst/>
            <a:ahLst/>
            <a:cxnLst/>
            <a:rect r="r" b="b" t="t" l="l"/>
            <a:pathLst>
              <a:path h="5995795" w="5368783">
                <a:moveTo>
                  <a:pt x="0" y="0"/>
                </a:moveTo>
                <a:lnTo>
                  <a:pt x="5368783" y="0"/>
                </a:lnTo>
                <a:lnTo>
                  <a:pt x="5368783" y="5995794"/>
                </a:lnTo>
                <a:lnTo>
                  <a:pt x="0" y="5995794"/>
                </a:lnTo>
                <a:lnTo>
                  <a:pt x="0" y="0"/>
                </a:lnTo>
                <a:close/>
              </a:path>
            </a:pathLst>
          </a:custGeom>
          <a:blipFill>
            <a:blip r:embed="rId2"/>
            <a:stretch>
              <a:fillRect l="0" t="0" r="0" b="0"/>
            </a:stretch>
          </a:blipFill>
        </p:spPr>
      </p:sp>
      <p:sp>
        <p:nvSpPr>
          <p:cNvPr name="Freeform 6" id="6"/>
          <p:cNvSpPr/>
          <p:nvPr/>
        </p:nvSpPr>
        <p:spPr>
          <a:xfrm flipH="false" flipV="false" rot="0">
            <a:off x="9915209" y="2596135"/>
            <a:ext cx="4314497" cy="6002570"/>
          </a:xfrm>
          <a:custGeom>
            <a:avLst/>
            <a:gdLst/>
            <a:ahLst/>
            <a:cxnLst/>
            <a:rect r="r" b="b" t="t" l="l"/>
            <a:pathLst>
              <a:path h="6002570" w="4314497">
                <a:moveTo>
                  <a:pt x="0" y="0"/>
                </a:moveTo>
                <a:lnTo>
                  <a:pt x="4314497" y="0"/>
                </a:lnTo>
                <a:lnTo>
                  <a:pt x="4314497" y="6002570"/>
                </a:lnTo>
                <a:lnTo>
                  <a:pt x="0" y="6002570"/>
                </a:lnTo>
                <a:lnTo>
                  <a:pt x="0" y="0"/>
                </a:lnTo>
                <a:close/>
              </a:path>
            </a:pathLst>
          </a:custGeom>
          <a:blipFill>
            <a:blip r:embed="rId3"/>
            <a:stretch>
              <a:fillRect l="0" t="-4407" r="0" b="-3079"/>
            </a:stretch>
          </a:blipFill>
        </p:spPr>
      </p:sp>
      <p:sp>
        <p:nvSpPr>
          <p:cNvPr name="TextBox 7" id="7"/>
          <p:cNvSpPr txBox="true"/>
          <p:nvPr/>
        </p:nvSpPr>
        <p:spPr>
          <a:xfrm rot="0">
            <a:off x="2537809" y="1194863"/>
            <a:ext cx="12138720" cy="949326"/>
          </a:xfrm>
          <a:prstGeom prst="rect">
            <a:avLst/>
          </a:prstGeom>
        </p:spPr>
        <p:txBody>
          <a:bodyPr anchor="t" rtlCol="false" tIns="0" lIns="0" bIns="0" rIns="0">
            <a:spAutoFit/>
          </a:bodyPr>
          <a:lstStyle/>
          <a:p>
            <a:pPr algn="ctr">
              <a:lnSpc>
                <a:spcPts val="7149"/>
              </a:lnSpc>
              <a:spcBef>
                <a:spcPct val="0"/>
              </a:spcBef>
            </a:pPr>
            <a:r>
              <a:rPr lang="en-US" b="true" sz="5499">
                <a:solidFill>
                  <a:srgbClr val="000000"/>
                </a:solidFill>
                <a:latin typeface="Gatwick Bold"/>
                <a:ea typeface="Gatwick Bold"/>
                <a:cs typeface="Gatwick Bold"/>
                <a:sym typeface="Gatwick Bold"/>
              </a:rPr>
              <a:t>VLOOK UP AND LOOK UP</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8CB36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0E2B6"/>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557A46"/>
            </a:solidFill>
          </p:spPr>
        </p:sp>
      </p:grpSp>
      <p:sp>
        <p:nvSpPr>
          <p:cNvPr name="Freeform 5" id="5"/>
          <p:cNvSpPr/>
          <p:nvPr/>
        </p:nvSpPr>
        <p:spPr>
          <a:xfrm flipH="false" flipV="false" rot="0">
            <a:off x="1361683" y="2657215"/>
            <a:ext cx="4401577" cy="4391546"/>
          </a:xfrm>
          <a:custGeom>
            <a:avLst/>
            <a:gdLst/>
            <a:ahLst/>
            <a:cxnLst/>
            <a:rect r="r" b="b" t="t" l="l"/>
            <a:pathLst>
              <a:path h="4391546" w="4401577">
                <a:moveTo>
                  <a:pt x="0" y="0"/>
                </a:moveTo>
                <a:lnTo>
                  <a:pt x="4401577" y="0"/>
                </a:lnTo>
                <a:lnTo>
                  <a:pt x="4401577" y="4391545"/>
                </a:lnTo>
                <a:lnTo>
                  <a:pt x="0" y="4391545"/>
                </a:lnTo>
                <a:lnTo>
                  <a:pt x="0" y="0"/>
                </a:lnTo>
                <a:close/>
              </a:path>
            </a:pathLst>
          </a:custGeom>
          <a:blipFill>
            <a:blip r:embed="rId2"/>
            <a:stretch>
              <a:fillRect l="-7408" t="-25482" r="-48961" b="0"/>
            </a:stretch>
          </a:blipFill>
        </p:spPr>
      </p:sp>
      <p:sp>
        <p:nvSpPr>
          <p:cNvPr name="Freeform 6" id="6"/>
          <p:cNvSpPr/>
          <p:nvPr/>
        </p:nvSpPr>
        <p:spPr>
          <a:xfrm flipH="false" flipV="false" rot="0">
            <a:off x="6315710" y="2542600"/>
            <a:ext cx="4757499" cy="4506160"/>
          </a:xfrm>
          <a:custGeom>
            <a:avLst/>
            <a:gdLst/>
            <a:ahLst/>
            <a:cxnLst/>
            <a:rect r="r" b="b" t="t" l="l"/>
            <a:pathLst>
              <a:path h="4506160" w="4757499">
                <a:moveTo>
                  <a:pt x="0" y="0"/>
                </a:moveTo>
                <a:lnTo>
                  <a:pt x="4757499" y="0"/>
                </a:lnTo>
                <a:lnTo>
                  <a:pt x="4757499" y="4506160"/>
                </a:lnTo>
                <a:lnTo>
                  <a:pt x="0" y="4506160"/>
                </a:lnTo>
                <a:lnTo>
                  <a:pt x="0" y="0"/>
                </a:lnTo>
                <a:close/>
              </a:path>
            </a:pathLst>
          </a:custGeom>
          <a:blipFill>
            <a:blip r:embed="rId3"/>
            <a:stretch>
              <a:fillRect l="-10522" t="-1928" r="-12100" b="-10012"/>
            </a:stretch>
          </a:blipFill>
        </p:spPr>
      </p:sp>
      <p:sp>
        <p:nvSpPr>
          <p:cNvPr name="Freeform 7" id="7"/>
          <p:cNvSpPr/>
          <p:nvPr/>
        </p:nvSpPr>
        <p:spPr>
          <a:xfrm flipH="false" flipV="false" rot="0">
            <a:off x="11628217" y="2556457"/>
            <a:ext cx="5293684" cy="4492303"/>
          </a:xfrm>
          <a:custGeom>
            <a:avLst/>
            <a:gdLst/>
            <a:ahLst/>
            <a:cxnLst/>
            <a:rect r="r" b="b" t="t" l="l"/>
            <a:pathLst>
              <a:path h="4492303" w="5293684">
                <a:moveTo>
                  <a:pt x="0" y="0"/>
                </a:moveTo>
                <a:lnTo>
                  <a:pt x="5293683" y="0"/>
                </a:lnTo>
                <a:lnTo>
                  <a:pt x="5293683" y="4492303"/>
                </a:lnTo>
                <a:lnTo>
                  <a:pt x="0" y="4492303"/>
                </a:lnTo>
                <a:lnTo>
                  <a:pt x="0" y="0"/>
                </a:lnTo>
                <a:close/>
              </a:path>
            </a:pathLst>
          </a:custGeom>
          <a:blipFill>
            <a:blip r:embed="rId4"/>
            <a:stretch>
              <a:fillRect l="0" t="-3900" r="0" b="-13171"/>
            </a:stretch>
          </a:blipFill>
        </p:spPr>
      </p:sp>
      <p:grpSp>
        <p:nvGrpSpPr>
          <p:cNvPr name="Group 8" id="8"/>
          <p:cNvGrpSpPr/>
          <p:nvPr/>
        </p:nvGrpSpPr>
        <p:grpSpPr>
          <a:xfrm rot="0">
            <a:off x="2046965" y="7405948"/>
            <a:ext cx="2876550" cy="1586865"/>
            <a:chOff x="0" y="0"/>
            <a:chExt cx="3835400" cy="2115820"/>
          </a:xfrm>
        </p:grpSpPr>
        <p:sp>
          <p:nvSpPr>
            <p:cNvPr name="TextBox 9" id="9"/>
            <p:cNvSpPr txBox="true"/>
            <p:nvPr/>
          </p:nvSpPr>
          <p:spPr>
            <a:xfrm rot="0">
              <a:off x="0" y="527685"/>
              <a:ext cx="3835400" cy="1588135"/>
            </a:xfrm>
            <a:prstGeom prst="rect">
              <a:avLst/>
            </a:prstGeom>
          </p:spPr>
          <p:txBody>
            <a:bodyPr anchor="t" rtlCol="false" tIns="0" lIns="0" bIns="0" rIns="0">
              <a:spAutoFit/>
            </a:bodyPr>
            <a:lstStyle/>
            <a:p>
              <a:pPr algn="ctr" marL="0" indent="0" lvl="0">
                <a:lnSpc>
                  <a:spcPts val="3120"/>
                </a:lnSpc>
                <a:spcBef>
                  <a:spcPct val="0"/>
                </a:spcBef>
              </a:pPr>
              <a:r>
                <a:rPr lang="en-US" sz="2400" strike="noStrike" u="none">
                  <a:solidFill>
                    <a:srgbClr val="405931"/>
                  </a:solidFill>
                  <a:latin typeface="Codec Pro"/>
                  <a:ea typeface="Codec Pro"/>
                  <a:cs typeface="Codec Pro"/>
                  <a:sym typeface="Codec Pro"/>
                </a:rPr>
                <a:t>Highest spending category in analysis.</a:t>
              </a:r>
            </a:p>
          </p:txBody>
        </p:sp>
        <p:sp>
          <p:nvSpPr>
            <p:cNvPr name="TextBox 10" id="10"/>
            <p:cNvSpPr txBox="true"/>
            <p:nvPr/>
          </p:nvSpPr>
          <p:spPr>
            <a:xfrm rot="0">
              <a:off x="0" y="-66675"/>
              <a:ext cx="3835400" cy="559435"/>
            </a:xfrm>
            <a:prstGeom prst="rect">
              <a:avLst/>
            </a:prstGeom>
          </p:spPr>
          <p:txBody>
            <a:bodyPr anchor="t" rtlCol="false" tIns="0" lIns="0" bIns="0" rIns="0">
              <a:spAutoFit/>
            </a:bodyPr>
            <a:lstStyle/>
            <a:p>
              <a:pPr algn="ctr" marL="0" indent="0" lvl="0">
                <a:lnSpc>
                  <a:spcPts val="3120"/>
                </a:lnSpc>
                <a:spcBef>
                  <a:spcPct val="0"/>
                </a:spcBef>
              </a:pPr>
              <a:r>
                <a:rPr lang="en-US" b="true" sz="2400" strike="noStrike" u="none">
                  <a:solidFill>
                    <a:srgbClr val="405931"/>
                  </a:solidFill>
                  <a:latin typeface="Codec Pro Ultra-Bold"/>
                  <a:ea typeface="Codec Pro Ultra-Bold"/>
                  <a:cs typeface="Codec Pro Ultra-Bold"/>
                  <a:sym typeface="Codec Pro Ultra-Bold"/>
                </a:rPr>
                <a:t>Wine</a:t>
              </a:r>
            </a:p>
          </p:txBody>
        </p:sp>
      </p:grpSp>
      <p:grpSp>
        <p:nvGrpSpPr>
          <p:cNvPr name="Group 11" id="11"/>
          <p:cNvGrpSpPr/>
          <p:nvPr/>
        </p:nvGrpSpPr>
        <p:grpSpPr>
          <a:xfrm rot="0">
            <a:off x="6994299" y="7405948"/>
            <a:ext cx="2876550" cy="1977390"/>
            <a:chOff x="0" y="0"/>
            <a:chExt cx="3835400" cy="2636520"/>
          </a:xfrm>
        </p:grpSpPr>
        <p:sp>
          <p:nvSpPr>
            <p:cNvPr name="TextBox 12" id="12"/>
            <p:cNvSpPr txBox="true"/>
            <p:nvPr/>
          </p:nvSpPr>
          <p:spPr>
            <a:xfrm rot="0">
              <a:off x="0" y="527685"/>
              <a:ext cx="3835400" cy="2108835"/>
            </a:xfrm>
            <a:prstGeom prst="rect">
              <a:avLst/>
            </a:prstGeom>
          </p:spPr>
          <p:txBody>
            <a:bodyPr anchor="t" rtlCol="false" tIns="0" lIns="0" bIns="0" rIns="0">
              <a:spAutoFit/>
            </a:bodyPr>
            <a:lstStyle/>
            <a:p>
              <a:pPr algn="ctr" marL="0" indent="0" lvl="0">
                <a:lnSpc>
                  <a:spcPts val="3120"/>
                </a:lnSpc>
                <a:spcBef>
                  <a:spcPct val="0"/>
                </a:spcBef>
              </a:pPr>
              <a:r>
                <a:rPr lang="en-US" sz="2400" strike="noStrike" u="none">
                  <a:solidFill>
                    <a:srgbClr val="405931"/>
                  </a:solidFill>
                  <a:latin typeface="Codec Pro"/>
                  <a:ea typeface="Codec Pro"/>
                  <a:cs typeface="Codec Pro"/>
                  <a:sym typeface="Codec Pro"/>
                </a:rPr>
                <a:t>Significant contributions to overall product sales.</a:t>
              </a:r>
            </a:p>
          </p:txBody>
        </p:sp>
        <p:sp>
          <p:nvSpPr>
            <p:cNvPr name="TextBox 13" id="13"/>
            <p:cNvSpPr txBox="true"/>
            <p:nvPr/>
          </p:nvSpPr>
          <p:spPr>
            <a:xfrm rot="0">
              <a:off x="0" y="-66675"/>
              <a:ext cx="3835400" cy="559435"/>
            </a:xfrm>
            <a:prstGeom prst="rect">
              <a:avLst/>
            </a:prstGeom>
          </p:spPr>
          <p:txBody>
            <a:bodyPr anchor="t" rtlCol="false" tIns="0" lIns="0" bIns="0" rIns="0">
              <a:spAutoFit/>
            </a:bodyPr>
            <a:lstStyle/>
            <a:p>
              <a:pPr algn="ctr" marL="0" indent="0" lvl="0">
                <a:lnSpc>
                  <a:spcPts val="3120"/>
                </a:lnSpc>
                <a:spcBef>
                  <a:spcPct val="0"/>
                </a:spcBef>
              </a:pPr>
              <a:r>
                <a:rPr lang="en-US" b="true" sz="2400" strike="noStrike" u="none">
                  <a:solidFill>
                    <a:srgbClr val="405931"/>
                  </a:solidFill>
                  <a:latin typeface="Codec Pro Ultra-Bold"/>
                  <a:ea typeface="Codec Pro Ultra-Bold"/>
                  <a:cs typeface="Codec Pro Ultra-Bold"/>
                  <a:sym typeface="Codec Pro Ultra-Bold"/>
                </a:rPr>
                <a:t>Meat</a:t>
              </a:r>
            </a:p>
          </p:txBody>
        </p:sp>
      </p:grpSp>
      <p:grpSp>
        <p:nvGrpSpPr>
          <p:cNvPr name="Group 14" id="14"/>
          <p:cNvGrpSpPr/>
          <p:nvPr/>
        </p:nvGrpSpPr>
        <p:grpSpPr>
          <a:xfrm rot="0">
            <a:off x="12836784" y="7405948"/>
            <a:ext cx="2876550" cy="1586865"/>
            <a:chOff x="0" y="0"/>
            <a:chExt cx="3835400" cy="2115820"/>
          </a:xfrm>
        </p:grpSpPr>
        <p:sp>
          <p:nvSpPr>
            <p:cNvPr name="TextBox 15" id="15"/>
            <p:cNvSpPr txBox="true"/>
            <p:nvPr/>
          </p:nvSpPr>
          <p:spPr>
            <a:xfrm rot="0">
              <a:off x="0" y="527685"/>
              <a:ext cx="3835400" cy="1588135"/>
            </a:xfrm>
            <a:prstGeom prst="rect">
              <a:avLst/>
            </a:prstGeom>
          </p:spPr>
          <p:txBody>
            <a:bodyPr anchor="t" rtlCol="false" tIns="0" lIns="0" bIns="0" rIns="0">
              <a:spAutoFit/>
            </a:bodyPr>
            <a:lstStyle/>
            <a:p>
              <a:pPr algn="ctr" marL="0" indent="0" lvl="0">
                <a:lnSpc>
                  <a:spcPts val="3120"/>
                </a:lnSpc>
                <a:spcBef>
                  <a:spcPct val="0"/>
                </a:spcBef>
              </a:pPr>
              <a:r>
                <a:rPr lang="en-US" sz="2400" strike="noStrike" u="none">
                  <a:solidFill>
                    <a:srgbClr val="405931"/>
                  </a:solidFill>
                  <a:latin typeface="Codec Pro"/>
                  <a:ea typeface="Codec Pro"/>
                  <a:cs typeface="Codec Pro"/>
                  <a:sym typeface="Codec Pro"/>
                </a:rPr>
                <a:t>Popular among high-income customers.</a:t>
              </a:r>
            </a:p>
          </p:txBody>
        </p:sp>
        <p:sp>
          <p:nvSpPr>
            <p:cNvPr name="TextBox 16" id="16"/>
            <p:cNvSpPr txBox="true"/>
            <p:nvPr/>
          </p:nvSpPr>
          <p:spPr>
            <a:xfrm rot="0">
              <a:off x="0" y="-66675"/>
              <a:ext cx="3835400" cy="559435"/>
            </a:xfrm>
            <a:prstGeom prst="rect">
              <a:avLst/>
            </a:prstGeom>
          </p:spPr>
          <p:txBody>
            <a:bodyPr anchor="t" rtlCol="false" tIns="0" lIns="0" bIns="0" rIns="0">
              <a:spAutoFit/>
            </a:bodyPr>
            <a:lstStyle/>
            <a:p>
              <a:pPr algn="ctr" marL="0" indent="0" lvl="0">
                <a:lnSpc>
                  <a:spcPts val="3120"/>
                </a:lnSpc>
                <a:spcBef>
                  <a:spcPct val="0"/>
                </a:spcBef>
              </a:pPr>
              <a:r>
                <a:rPr lang="en-US" b="true" sz="2400" strike="noStrike" u="none">
                  <a:solidFill>
                    <a:srgbClr val="405931"/>
                  </a:solidFill>
                  <a:latin typeface="Codec Pro Ultra-Bold"/>
                  <a:ea typeface="Codec Pro Ultra-Bold"/>
                  <a:cs typeface="Codec Pro Ultra-Bold"/>
                  <a:sym typeface="Codec Pro Ultra-Bold"/>
                </a:rPr>
                <a:t>Gold</a:t>
              </a:r>
            </a:p>
          </p:txBody>
        </p:sp>
      </p:grpSp>
      <p:sp>
        <p:nvSpPr>
          <p:cNvPr name="TextBox 17" id="17"/>
          <p:cNvSpPr txBox="true"/>
          <p:nvPr/>
        </p:nvSpPr>
        <p:spPr>
          <a:xfrm rot="0">
            <a:off x="2046965" y="9715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557A46"/>
                </a:solidFill>
                <a:latin typeface="Gatwick Ultra-Bold"/>
                <a:ea typeface="Gatwick Ultra-Bold"/>
                <a:cs typeface="Gatwick Ultra-Bold"/>
                <a:sym typeface="Gatwick Ultra-Bold"/>
              </a:rPr>
              <a:t>Product Spending Insights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0E2B6"/>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A7CF83"/>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D0E2B6"/>
            </a:solidFill>
          </p:spPr>
        </p:sp>
      </p:grpSp>
      <p:sp>
        <p:nvSpPr>
          <p:cNvPr name="Freeform 5" id="5"/>
          <p:cNvSpPr/>
          <p:nvPr/>
        </p:nvSpPr>
        <p:spPr>
          <a:xfrm flipH="false" flipV="false" rot="0">
            <a:off x="1828991" y="2876251"/>
            <a:ext cx="4288323" cy="4384320"/>
          </a:xfrm>
          <a:custGeom>
            <a:avLst/>
            <a:gdLst/>
            <a:ahLst/>
            <a:cxnLst/>
            <a:rect r="r" b="b" t="t" l="l"/>
            <a:pathLst>
              <a:path h="4384320" w="4288323">
                <a:moveTo>
                  <a:pt x="0" y="0"/>
                </a:moveTo>
                <a:lnTo>
                  <a:pt x="4288323" y="0"/>
                </a:lnTo>
                <a:lnTo>
                  <a:pt x="4288323" y="4384320"/>
                </a:lnTo>
                <a:lnTo>
                  <a:pt x="0" y="4384320"/>
                </a:lnTo>
                <a:lnTo>
                  <a:pt x="0" y="0"/>
                </a:lnTo>
                <a:close/>
              </a:path>
            </a:pathLst>
          </a:custGeom>
          <a:blipFill>
            <a:blip r:embed="rId2"/>
            <a:stretch>
              <a:fillRect l="-10506" t="-19410" r="-19142" b="-2283"/>
            </a:stretch>
          </a:blipFill>
        </p:spPr>
      </p:sp>
      <p:sp>
        <p:nvSpPr>
          <p:cNvPr name="Freeform 6" id="6"/>
          <p:cNvSpPr/>
          <p:nvPr/>
        </p:nvSpPr>
        <p:spPr>
          <a:xfrm flipH="false" flipV="false" rot="0">
            <a:off x="6345914" y="2876251"/>
            <a:ext cx="4189704" cy="4433338"/>
          </a:xfrm>
          <a:custGeom>
            <a:avLst/>
            <a:gdLst/>
            <a:ahLst/>
            <a:cxnLst/>
            <a:rect r="r" b="b" t="t" l="l"/>
            <a:pathLst>
              <a:path h="4433338" w="4189704">
                <a:moveTo>
                  <a:pt x="0" y="0"/>
                </a:moveTo>
                <a:lnTo>
                  <a:pt x="4189703" y="0"/>
                </a:lnTo>
                <a:lnTo>
                  <a:pt x="4189703" y="4433338"/>
                </a:lnTo>
                <a:lnTo>
                  <a:pt x="0" y="4433338"/>
                </a:lnTo>
                <a:lnTo>
                  <a:pt x="0" y="0"/>
                </a:lnTo>
                <a:close/>
              </a:path>
            </a:pathLst>
          </a:custGeom>
          <a:blipFill>
            <a:blip r:embed="rId3"/>
            <a:stretch>
              <a:fillRect l="0" t="-2624" r="-20311" b="-22950"/>
            </a:stretch>
          </a:blipFill>
        </p:spPr>
      </p:sp>
      <p:sp>
        <p:nvSpPr>
          <p:cNvPr name="Freeform 7" id="7"/>
          <p:cNvSpPr/>
          <p:nvPr/>
        </p:nvSpPr>
        <p:spPr>
          <a:xfrm flipH="false" flipV="false" rot="0">
            <a:off x="10764217" y="2876251"/>
            <a:ext cx="6356710" cy="4384320"/>
          </a:xfrm>
          <a:custGeom>
            <a:avLst/>
            <a:gdLst/>
            <a:ahLst/>
            <a:cxnLst/>
            <a:rect r="r" b="b" t="t" l="l"/>
            <a:pathLst>
              <a:path h="4384320" w="6356710">
                <a:moveTo>
                  <a:pt x="0" y="0"/>
                </a:moveTo>
                <a:lnTo>
                  <a:pt x="6356711" y="0"/>
                </a:lnTo>
                <a:lnTo>
                  <a:pt x="6356711" y="4384320"/>
                </a:lnTo>
                <a:lnTo>
                  <a:pt x="0" y="4384320"/>
                </a:lnTo>
                <a:lnTo>
                  <a:pt x="0" y="0"/>
                </a:lnTo>
                <a:close/>
              </a:path>
            </a:pathLst>
          </a:custGeom>
          <a:blipFill>
            <a:blip r:embed="rId4"/>
            <a:stretch>
              <a:fillRect l="-5559" t="-6684" r="-10237" b="-10109"/>
            </a:stretch>
          </a:blipFill>
        </p:spPr>
      </p:sp>
      <p:grpSp>
        <p:nvGrpSpPr>
          <p:cNvPr name="Group 8" id="8"/>
          <p:cNvGrpSpPr/>
          <p:nvPr/>
        </p:nvGrpSpPr>
        <p:grpSpPr>
          <a:xfrm rot="0">
            <a:off x="2105025" y="7484850"/>
            <a:ext cx="2876550" cy="1586865"/>
            <a:chOff x="0" y="0"/>
            <a:chExt cx="3835400" cy="2115820"/>
          </a:xfrm>
        </p:grpSpPr>
        <p:sp>
          <p:nvSpPr>
            <p:cNvPr name="TextBox 9" id="9"/>
            <p:cNvSpPr txBox="true"/>
            <p:nvPr/>
          </p:nvSpPr>
          <p:spPr>
            <a:xfrm rot="0">
              <a:off x="0" y="527685"/>
              <a:ext cx="3835400" cy="1588135"/>
            </a:xfrm>
            <a:prstGeom prst="rect">
              <a:avLst/>
            </a:prstGeom>
          </p:spPr>
          <p:txBody>
            <a:bodyPr anchor="t" rtlCol="false" tIns="0" lIns="0" bIns="0" rIns="0">
              <a:spAutoFit/>
            </a:bodyPr>
            <a:lstStyle/>
            <a:p>
              <a:pPr algn="ctr" marL="0" indent="0" lvl="0">
                <a:lnSpc>
                  <a:spcPts val="3120"/>
                </a:lnSpc>
                <a:spcBef>
                  <a:spcPct val="0"/>
                </a:spcBef>
              </a:pPr>
              <a:r>
                <a:rPr lang="en-US" sz="2400" strike="noStrike" u="none">
                  <a:solidFill>
                    <a:srgbClr val="405931"/>
                  </a:solidFill>
                  <a:latin typeface="Codec Pro"/>
                  <a:ea typeface="Codec Pro"/>
                  <a:cs typeface="Codec Pro"/>
                  <a:sym typeface="Codec Pro"/>
                </a:rPr>
                <a:t>Diverse age groups drive purchasing decisions.</a:t>
              </a:r>
            </a:p>
          </p:txBody>
        </p:sp>
        <p:sp>
          <p:nvSpPr>
            <p:cNvPr name="TextBox 10" id="10"/>
            <p:cNvSpPr txBox="true"/>
            <p:nvPr/>
          </p:nvSpPr>
          <p:spPr>
            <a:xfrm rot="0">
              <a:off x="0" y="-66675"/>
              <a:ext cx="3835400" cy="559435"/>
            </a:xfrm>
            <a:prstGeom prst="rect">
              <a:avLst/>
            </a:prstGeom>
          </p:spPr>
          <p:txBody>
            <a:bodyPr anchor="t" rtlCol="false" tIns="0" lIns="0" bIns="0" rIns="0">
              <a:spAutoFit/>
            </a:bodyPr>
            <a:lstStyle/>
            <a:p>
              <a:pPr algn="ctr" marL="0" indent="0" lvl="0">
                <a:lnSpc>
                  <a:spcPts val="3120"/>
                </a:lnSpc>
                <a:spcBef>
                  <a:spcPct val="0"/>
                </a:spcBef>
              </a:pPr>
              <a:r>
                <a:rPr lang="en-US" b="true" sz="2400" strike="noStrike" u="none">
                  <a:solidFill>
                    <a:srgbClr val="405931"/>
                  </a:solidFill>
                  <a:latin typeface="Codec Pro Ultra-Bold"/>
                  <a:ea typeface="Codec Pro Ultra-Bold"/>
                  <a:cs typeface="Codec Pro Ultra-Bold"/>
                  <a:sym typeface="Codec Pro Ultra-Bold"/>
                </a:rPr>
                <a:t>Age</a:t>
              </a:r>
            </a:p>
          </p:txBody>
        </p:sp>
      </p:grpSp>
      <p:grpSp>
        <p:nvGrpSpPr>
          <p:cNvPr name="Group 11" id="11"/>
          <p:cNvGrpSpPr/>
          <p:nvPr/>
        </p:nvGrpSpPr>
        <p:grpSpPr>
          <a:xfrm rot="0">
            <a:off x="7002491" y="7484850"/>
            <a:ext cx="2876550" cy="1586865"/>
            <a:chOff x="0" y="0"/>
            <a:chExt cx="3835400" cy="2115820"/>
          </a:xfrm>
        </p:grpSpPr>
        <p:sp>
          <p:nvSpPr>
            <p:cNvPr name="TextBox 12" id="12"/>
            <p:cNvSpPr txBox="true"/>
            <p:nvPr/>
          </p:nvSpPr>
          <p:spPr>
            <a:xfrm rot="0">
              <a:off x="0" y="527685"/>
              <a:ext cx="3835400" cy="1588135"/>
            </a:xfrm>
            <a:prstGeom prst="rect">
              <a:avLst/>
            </a:prstGeom>
          </p:spPr>
          <p:txBody>
            <a:bodyPr anchor="t" rtlCol="false" tIns="0" lIns="0" bIns="0" rIns="0">
              <a:spAutoFit/>
            </a:bodyPr>
            <a:lstStyle/>
            <a:p>
              <a:pPr algn="ctr" marL="0" indent="0" lvl="0">
                <a:lnSpc>
                  <a:spcPts val="3120"/>
                </a:lnSpc>
                <a:spcBef>
                  <a:spcPct val="0"/>
                </a:spcBef>
              </a:pPr>
              <a:r>
                <a:rPr lang="en-US" sz="2400" strike="noStrike" u="none">
                  <a:solidFill>
                    <a:srgbClr val="405931"/>
                  </a:solidFill>
                  <a:latin typeface="Codec Pro"/>
                  <a:ea typeface="Codec Pro"/>
                  <a:cs typeface="Codec Pro"/>
                  <a:sym typeface="Codec Pro"/>
                </a:rPr>
                <a:t>Income levels determine spending capacity.</a:t>
              </a:r>
            </a:p>
          </p:txBody>
        </p:sp>
        <p:sp>
          <p:nvSpPr>
            <p:cNvPr name="TextBox 13" id="13"/>
            <p:cNvSpPr txBox="true"/>
            <p:nvPr/>
          </p:nvSpPr>
          <p:spPr>
            <a:xfrm rot="0">
              <a:off x="0" y="-66675"/>
              <a:ext cx="3835400" cy="559435"/>
            </a:xfrm>
            <a:prstGeom prst="rect">
              <a:avLst/>
            </a:prstGeom>
          </p:spPr>
          <p:txBody>
            <a:bodyPr anchor="t" rtlCol="false" tIns="0" lIns="0" bIns="0" rIns="0">
              <a:spAutoFit/>
            </a:bodyPr>
            <a:lstStyle/>
            <a:p>
              <a:pPr algn="ctr" marL="0" indent="0" lvl="0">
                <a:lnSpc>
                  <a:spcPts val="3120"/>
                </a:lnSpc>
                <a:spcBef>
                  <a:spcPct val="0"/>
                </a:spcBef>
              </a:pPr>
              <a:r>
                <a:rPr lang="en-US" b="true" sz="2400" strike="noStrike" u="none">
                  <a:solidFill>
                    <a:srgbClr val="405931"/>
                  </a:solidFill>
                  <a:latin typeface="Codec Pro Ultra-Bold"/>
                  <a:ea typeface="Codec Pro Ultra-Bold"/>
                  <a:cs typeface="Codec Pro Ultra-Bold"/>
                  <a:sym typeface="Codec Pro Ultra-Bold"/>
                </a:rPr>
                <a:t>Income</a:t>
              </a:r>
            </a:p>
          </p:txBody>
        </p:sp>
      </p:grpSp>
      <p:grpSp>
        <p:nvGrpSpPr>
          <p:cNvPr name="Group 14" id="14"/>
          <p:cNvGrpSpPr/>
          <p:nvPr/>
        </p:nvGrpSpPr>
        <p:grpSpPr>
          <a:xfrm rot="0">
            <a:off x="13014176" y="7484850"/>
            <a:ext cx="2876550" cy="1586865"/>
            <a:chOff x="0" y="0"/>
            <a:chExt cx="3835400" cy="2115820"/>
          </a:xfrm>
        </p:grpSpPr>
        <p:sp>
          <p:nvSpPr>
            <p:cNvPr name="TextBox 15" id="15"/>
            <p:cNvSpPr txBox="true"/>
            <p:nvPr/>
          </p:nvSpPr>
          <p:spPr>
            <a:xfrm rot="0">
              <a:off x="0" y="527685"/>
              <a:ext cx="3835400" cy="1588135"/>
            </a:xfrm>
            <a:prstGeom prst="rect">
              <a:avLst/>
            </a:prstGeom>
          </p:spPr>
          <p:txBody>
            <a:bodyPr anchor="t" rtlCol="false" tIns="0" lIns="0" bIns="0" rIns="0">
              <a:spAutoFit/>
            </a:bodyPr>
            <a:lstStyle/>
            <a:p>
              <a:pPr algn="ctr" marL="0" indent="0" lvl="0">
                <a:lnSpc>
                  <a:spcPts val="3120"/>
                </a:lnSpc>
                <a:spcBef>
                  <a:spcPct val="0"/>
                </a:spcBef>
              </a:pPr>
              <a:r>
                <a:rPr lang="en-US" sz="2400" strike="noStrike" u="none">
                  <a:solidFill>
                    <a:srgbClr val="405931"/>
                  </a:solidFill>
                  <a:latin typeface="Codec Pro"/>
                  <a:ea typeface="Codec Pro"/>
                  <a:cs typeface="Codec Pro"/>
                  <a:sym typeface="Codec Pro"/>
                </a:rPr>
                <a:t>Marital status affects buying behavior.</a:t>
              </a:r>
            </a:p>
          </p:txBody>
        </p:sp>
        <p:sp>
          <p:nvSpPr>
            <p:cNvPr name="TextBox 16" id="16"/>
            <p:cNvSpPr txBox="true"/>
            <p:nvPr/>
          </p:nvSpPr>
          <p:spPr>
            <a:xfrm rot="0">
              <a:off x="0" y="-66675"/>
              <a:ext cx="3835400" cy="559435"/>
            </a:xfrm>
            <a:prstGeom prst="rect">
              <a:avLst/>
            </a:prstGeom>
          </p:spPr>
          <p:txBody>
            <a:bodyPr anchor="t" rtlCol="false" tIns="0" lIns="0" bIns="0" rIns="0">
              <a:spAutoFit/>
            </a:bodyPr>
            <a:lstStyle/>
            <a:p>
              <a:pPr algn="ctr" marL="0" indent="0" lvl="0">
                <a:lnSpc>
                  <a:spcPts val="3120"/>
                </a:lnSpc>
                <a:spcBef>
                  <a:spcPct val="0"/>
                </a:spcBef>
              </a:pPr>
              <a:r>
                <a:rPr lang="en-US" b="true" sz="2400" strike="noStrike" u="none">
                  <a:solidFill>
                    <a:srgbClr val="405931"/>
                  </a:solidFill>
                  <a:latin typeface="Codec Pro Ultra-Bold"/>
                  <a:ea typeface="Codec Pro Ultra-Bold"/>
                  <a:cs typeface="Codec Pro Ultra-Bold"/>
                  <a:sym typeface="Codec Pro Ultra-Bold"/>
                </a:rPr>
                <a:t>Marital Status</a:t>
              </a:r>
            </a:p>
          </p:txBody>
        </p:sp>
      </p:grpSp>
      <p:sp>
        <p:nvSpPr>
          <p:cNvPr name="TextBox 17" id="17"/>
          <p:cNvSpPr txBox="true"/>
          <p:nvPr/>
        </p:nvSpPr>
        <p:spPr>
          <a:xfrm rot="0">
            <a:off x="2105025" y="15049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557A46"/>
                </a:solidFill>
                <a:latin typeface="Gatwick Ultra-Bold"/>
                <a:ea typeface="Gatwick Ultra-Bold"/>
                <a:cs typeface="Gatwick Ultra-Bold"/>
                <a:sym typeface="Gatwick Ultra-Bold"/>
              </a:rPr>
              <a:t>Customer Demographics Insights</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557A46"/>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0E2B6"/>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8CB369"/>
            </a:solidFill>
          </p:spPr>
        </p:sp>
      </p:grpSp>
      <p:grpSp>
        <p:nvGrpSpPr>
          <p:cNvPr name="Group 5" id="5"/>
          <p:cNvGrpSpPr/>
          <p:nvPr/>
        </p:nvGrpSpPr>
        <p:grpSpPr>
          <a:xfrm rot="0">
            <a:off x="1800225" y="3352800"/>
            <a:ext cx="14687550" cy="5372100"/>
            <a:chOff x="0" y="0"/>
            <a:chExt cx="3868326" cy="1414874"/>
          </a:xfrm>
        </p:grpSpPr>
        <p:sp>
          <p:nvSpPr>
            <p:cNvPr name="Freeform 6" id="6"/>
            <p:cNvSpPr/>
            <p:nvPr/>
          </p:nvSpPr>
          <p:spPr>
            <a:xfrm flipH="false" flipV="false" rot="0">
              <a:off x="0" y="0"/>
              <a:ext cx="3868326" cy="1414874"/>
            </a:xfrm>
            <a:custGeom>
              <a:avLst/>
              <a:gdLst/>
              <a:ahLst/>
              <a:cxnLst/>
              <a:rect r="r" b="b" t="t" l="l"/>
              <a:pathLst>
                <a:path h="1414874" w="3868326">
                  <a:moveTo>
                    <a:pt x="26355" y="0"/>
                  </a:moveTo>
                  <a:lnTo>
                    <a:pt x="3841971" y="0"/>
                  </a:lnTo>
                  <a:cubicBezTo>
                    <a:pt x="3856526" y="0"/>
                    <a:pt x="3868326" y="11800"/>
                    <a:pt x="3868326" y="26355"/>
                  </a:cubicBezTo>
                  <a:lnTo>
                    <a:pt x="3868326" y="1388519"/>
                  </a:lnTo>
                  <a:cubicBezTo>
                    <a:pt x="3868326" y="1395509"/>
                    <a:pt x="3865549" y="1402212"/>
                    <a:pt x="3860607" y="1407155"/>
                  </a:cubicBezTo>
                  <a:cubicBezTo>
                    <a:pt x="3855664" y="1412097"/>
                    <a:pt x="3848960" y="1414874"/>
                    <a:pt x="3841971" y="1414874"/>
                  </a:cubicBezTo>
                  <a:lnTo>
                    <a:pt x="26355" y="1414874"/>
                  </a:lnTo>
                  <a:cubicBezTo>
                    <a:pt x="11800" y="1414874"/>
                    <a:pt x="0" y="1403074"/>
                    <a:pt x="0" y="1388519"/>
                  </a:cubicBezTo>
                  <a:lnTo>
                    <a:pt x="0" y="26355"/>
                  </a:lnTo>
                  <a:cubicBezTo>
                    <a:pt x="0" y="11800"/>
                    <a:pt x="11800" y="0"/>
                    <a:pt x="26355"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3868326" cy="1481549"/>
            </a:xfrm>
            <a:prstGeom prst="rect">
              <a:avLst/>
            </a:prstGeom>
          </p:spPr>
          <p:txBody>
            <a:bodyPr anchor="ctr" rtlCol="false" tIns="127000" lIns="127000" bIns="127000" rIns="127000"/>
            <a:lstStyle/>
            <a:p>
              <a:pPr algn="ctr" marL="0" indent="0" lvl="0">
                <a:lnSpc>
                  <a:spcPts val="3120"/>
                </a:lnSpc>
              </a:pPr>
            </a:p>
          </p:txBody>
        </p:sp>
      </p:grpSp>
      <p:sp>
        <p:nvSpPr>
          <p:cNvPr name="TextBox 8" id="8"/>
          <p:cNvSpPr txBox="true"/>
          <p:nvPr/>
        </p:nvSpPr>
        <p:spPr>
          <a:xfrm rot="0">
            <a:off x="2105025" y="15049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405931"/>
                </a:solidFill>
                <a:latin typeface="Gatwick Ultra-Bold"/>
                <a:ea typeface="Gatwick Ultra-Bold"/>
                <a:cs typeface="Gatwick Ultra-Bold"/>
                <a:sym typeface="Gatwick Ultra-Bold"/>
              </a:rPr>
              <a:t>Power Pivot Insights</a:t>
            </a:r>
          </a:p>
        </p:txBody>
      </p:sp>
      <p:sp>
        <p:nvSpPr>
          <p:cNvPr name="TextBox 9" id="9"/>
          <p:cNvSpPr txBox="true"/>
          <p:nvPr/>
        </p:nvSpPr>
        <p:spPr>
          <a:xfrm rot="0">
            <a:off x="3238500" y="4620578"/>
            <a:ext cx="11811000" cy="2769870"/>
          </a:xfrm>
          <a:prstGeom prst="rect">
            <a:avLst/>
          </a:prstGeom>
        </p:spPr>
        <p:txBody>
          <a:bodyPr anchor="t" rtlCol="false" tIns="0" lIns="0" bIns="0" rIns="0">
            <a:spAutoFit/>
          </a:bodyPr>
          <a:lstStyle/>
          <a:p>
            <a:pPr algn="ctr" marL="0" indent="0" lvl="0">
              <a:lnSpc>
                <a:spcPts val="3120"/>
              </a:lnSpc>
            </a:pPr>
            <a:r>
              <a:rPr lang="en-US" sz="2400">
                <a:solidFill>
                  <a:srgbClr val="405931"/>
                </a:solidFill>
                <a:latin typeface="Codec Pro"/>
                <a:ea typeface="Codec Pro"/>
                <a:cs typeface="Codec Pro"/>
                <a:sym typeface="Codec Pro"/>
              </a:rPr>
              <a:t>Power Pivot is a powerful Excel tool that enables users to create data models and establish relationships between different data sets. This functionality allows for more complex analysis and visualizations, enhancing the overall understanding of customer behaviors and trends. By integrating multiple tables, users can uncover deeper insights from their data, enabling businesses to make informed decisions based on comprehensive analytics and refined customer segmentation.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557A46"/>
        </a:solidFill>
      </p:bgPr>
    </p:bg>
    <p:spTree>
      <p:nvGrpSpPr>
        <p:cNvPr id="1" name=""/>
        <p:cNvGrpSpPr/>
        <p:nvPr/>
      </p:nvGrpSpPr>
      <p:grpSpPr>
        <a:xfrm>
          <a:off x="0" y="0"/>
          <a:ext cx="0" cy="0"/>
          <a:chOff x="0" y="0"/>
          <a:chExt cx="0" cy="0"/>
        </a:xfrm>
      </p:grpSpPr>
      <p:sp>
        <p:nvSpPr>
          <p:cNvPr name="Freeform 2" id="2"/>
          <p:cNvSpPr/>
          <p:nvPr/>
        </p:nvSpPr>
        <p:spPr>
          <a:xfrm flipH="false" flipV="false" rot="0">
            <a:off x="5433901" y="0"/>
            <a:ext cx="12671875" cy="10287000"/>
          </a:xfrm>
          <a:custGeom>
            <a:avLst/>
            <a:gdLst/>
            <a:ahLst/>
            <a:cxnLst/>
            <a:rect r="r" b="b" t="t" l="l"/>
            <a:pathLst>
              <a:path h="10287000" w="12671875">
                <a:moveTo>
                  <a:pt x="0" y="0"/>
                </a:moveTo>
                <a:lnTo>
                  <a:pt x="12671875" y="0"/>
                </a:lnTo>
                <a:lnTo>
                  <a:pt x="12671875" y="10287000"/>
                </a:lnTo>
                <a:lnTo>
                  <a:pt x="0" y="10287000"/>
                </a:lnTo>
                <a:lnTo>
                  <a:pt x="0" y="0"/>
                </a:lnTo>
                <a:close/>
              </a:path>
            </a:pathLst>
          </a:custGeom>
          <a:blipFill>
            <a:blip r:embed="rId2"/>
            <a:stretch>
              <a:fillRect l="0" t="-5764" r="-11456" b="-28016"/>
            </a:stretch>
          </a:blipFill>
        </p:spPr>
      </p:sp>
      <p:sp>
        <p:nvSpPr>
          <p:cNvPr name="TextBox 3" id="3"/>
          <p:cNvSpPr txBox="true"/>
          <p:nvPr/>
        </p:nvSpPr>
        <p:spPr>
          <a:xfrm rot="0">
            <a:off x="742502" y="3173730"/>
            <a:ext cx="2986683" cy="549910"/>
          </a:xfrm>
          <a:prstGeom prst="rect">
            <a:avLst/>
          </a:prstGeom>
        </p:spPr>
        <p:txBody>
          <a:bodyPr anchor="t" rtlCol="false" tIns="0" lIns="0" bIns="0" rIns="0">
            <a:spAutoFit/>
          </a:bodyPr>
          <a:lstStyle/>
          <a:p>
            <a:pPr algn="ctr">
              <a:lnSpc>
                <a:spcPts val="4159"/>
              </a:lnSpc>
              <a:spcBef>
                <a:spcPct val="0"/>
              </a:spcBef>
            </a:pPr>
            <a:r>
              <a:rPr lang="en-US" sz="3199">
                <a:solidFill>
                  <a:srgbClr val="000000"/>
                </a:solidFill>
                <a:latin typeface="Gatwick"/>
                <a:ea typeface="Gatwick"/>
                <a:cs typeface="Gatwick"/>
                <a:sym typeface="Gatwick"/>
              </a:rPr>
              <a:t>Power Pivot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557A46"/>
        </a:solidFill>
      </p:bgPr>
    </p:bg>
    <p:spTree>
      <p:nvGrpSpPr>
        <p:cNvPr id="1" name=""/>
        <p:cNvGrpSpPr/>
        <p:nvPr/>
      </p:nvGrpSpPr>
      <p:grpSpPr>
        <a:xfrm>
          <a:off x="0" y="0"/>
          <a:ext cx="0" cy="0"/>
          <a:chOff x="0" y="0"/>
          <a:chExt cx="0" cy="0"/>
        </a:xfrm>
      </p:grpSpPr>
      <p:sp>
        <p:nvSpPr>
          <p:cNvPr name="Freeform 2" id="2"/>
          <p:cNvSpPr/>
          <p:nvPr/>
        </p:nvSpPr>
        <p:spPr>
          <a:xfrm flipH="false" flipV="false" rot="0">
            <a:off x="3243075" y="2429966"/>
            <a:ext cx="11551555" cy="5326950"/>
          </a:xfrm>
          <a:custGeom>
            <a:avLst/>
            <a:gdLst/>
            <a:ahLst/>
            <a:cxnLst/>
            <a:rect r="r" b="b" t="t" l="l"/>
            <a:pathLst>
              <a:path h="5326950" w="11551555">
                <a:moveTo>
                  <a:pt x="0" y="0"/>
                </a:moveTo>
                <a:lnTo>
                  <a:pt x="11551554" y="0"/>
                </a:lnTo>
                <a:lnTo>
                  <a:pt x="11551554" y="5326950"/>
                </a:lnTo>
                <a:lnTo>
                  <a:pt x="0" y="5326950"/>
                </a:lnTo>
                <a:lnTo>
                  <a:pt x="0" y="0"/>
                </a:lnTo>
                <a:close/>
              </a:path>
            </a:pathLst>
          </a:custGeom>
          <a:blipFill>
            <a:blip r:embed="rId2"/>
            <a:stretch>
              <a:fillRect l="0" t="-622" r="-948" b="-622"/>
            </a:stretch>
          </a:blipFill>
        </p:spPr>
      </p:sp>
      <p:sp>
        <p:nvSpPr>
          <p:cNvPr name="TextBox 3" id="3"/>
          <p:cNvSpPr txBox="true"/>
          <p:nvPr/>
        </p:nvSpPr>
        <p:spPr>
          <a:xfrm rot="0">
            <a:off x="3555053" y="595141"/>
            <a:ext cx="11239577" cy="1149684"/>
          </a:xfrm>
          <a:prstGeom prst="rect">
            <a:avLst/>
          </a:prstGeom>
        </p:spPr>
        <p:txBody>
          <a:bodyPr anchor="t" rtlCol="false" tIns="0" lIns="0" bIns="0" rIns="0">
            <a:spAutoFit/>
          </a:bodyPr>
          <a:lstStyle/>
          <a:p>
            <a:pPr algn="ctr">
              <a:lnSpc>
                <a:spcPts val="8552"/>
              </a:lnSpc>
              <a:spcBef>
                <a:spcPct val="0"/>
              </a:spcBef>
            </a:pPr>
            <a:r>
              <a:rPr lang="en-US" b="true" sz="6578">
                <a:solidFill>
                  <a:srgbClr val="000000"/>
                </a:solidFill>
                <a:latin typeface="Codec Pro Ultra-Bold"/>
                <a:ea typeface="Codec Pro Ultra-Bold"/>
                <a:cs typeface="Codec Pro Ultra-Bold"/>
                <a:sym typeface="Codec Pro Ultra-Bold"/>
              </a:rPr>
              <a:t>DATA MODELLING</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5F7F1"/>
        </a:solidFill>
      </p:bgPr>
    </p:bg>
    <p:spTree>
      <p:nvGrpSpPr>
        <p:cNvPr id="1" name=""/>
        <p:cNvGrpSpPr/>
        <p:nvPr/>
      </p:nvGrpSpPr>
      <p:grpSpPr>
        <a:xfrm>
          <a:off x="0" y="0"/>
          <a:ext cx="0" cy="0"/>
          <a:chOff x="0" y="0"/>
          <a:chExt cx="0" cy="0"/>
        </a:xfrm>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2800"/>
              </a:lnSpc>
              <a:spcBef>
                <a:spcPct val="0"/>
              </a:spcBef>
            </a:pPr>
            <a:r>
              <a:rPr lang="en-US" sz="2000">
                <a:solidFill>
                  <a:srgbClr val="5A6A45"/>
                </a:solidFill>
                <a:latin typeface="Helvetica World"/>
                <a:ea typeface="Helvetica World"/>
                <a:cs typeface="Helvetica World"/>
                <a:sym typeface="Helvetica World"/>
              </a:rPr>
              <a:t>16</a:t>
            </a:r>
          </a:p>
        </p:txBody>
      </p:sp>
      <p:grpSp>
        <p:nvGrpSpPr>
          <p:cNvPr name="Group 3" id="3"/>
          <p:cNvGrpSpPr/>
          <p:nvPr/>
        </p:nvGrpSpPr>
        <p:grpSpPr>
          <a:xfrm rot="0">
            <a:off x="666750" y="606425"/>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BDD4AA"/>
            </a:solidFill>
            <a:ln cap="rnd">
              <a:noFill/>
              <a:prstDash val="solid"/>
              <a:round/>
            </a:ln>
          </p:spPr>
        </p:sp>
        <p:sp>
          <p:nvSpPr>
            <p:cNvPr name="TextBox 5" id="5"/>
            <p:cNvSpPr txBox="true"/>
            <p:nvPr/>
          </p:nvSpPr>
          <p:spPr>
            <a:xfrm>
              <a:off x="0" y="-38100"/>
              <a:ext cx="4465383" cy="2396223"/>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1800225" y="1562100"/>
            <a:ext cx="12944475" cy="2067009"/>
            <a:chOff x="0" y="0"/>
            <a:chExt cx="17259300" cy="2756012"/>
          </a:xfrm>
        </p:grpSpPr>
        <p:sp>
          <p:nvSpPr>
            <p:cNvPr name="TextBox 7" id="7"/>
            <p:cNvSpPr txBox="true"/>
            <p:nvPr/>
          </p:nvSpPr>
          <p:spPr>
            <a:xfrm rot="0">
              <a:off x="0" y="-85725"/>
              <a:ext cx="17259300" cy="1702858"/>
            </a:xfrm>
            <a:prstGeom prst="rect">
              <a:avLst/>
            </a:prstGeom>
          </p:spPr>
          <p:txBody>
            <a:bodyPr anchor="t" rtlCol="false" tIns="0" lIns="0" bIns="0" rIns="0">
              <a:spAutoFit/>
            </a:bodyPr>
            <a:lstStyle/>
            <a:p>
              <a:pPr algn="l" marL="0" indent="0" lvl="0">
                <a:lnSpc>
                  <a:spcPts val="10400"/>
                </a:lnSpc>
              </a:pPr>
              <a:r>
                <a:rPr lang="en-US" sz="8000" spc="-240">
                  <a:solidFill>
                    <a:srgbClr val="5A6A45"/>
                  </a:solidFill>
                  <a:latin typeface="Georgia Pro Condensed"/>
                  <a:ea typeface="Georgia Pro Condensed"/>
                  <a:cs typeface="Georgia Pro Condensed"/>
                  <a:sym typeface="Georgia Pro Condensed"/>
                </a:rPr>
                <a:t>Scenario Analysis Techniques</a:t>
              </a:r>
            </a:p>
          </p:txBody>
        </p:sp>
        <p:sp>
          <p:nvSpPr>
            <p:cNvPr name="TextBox 8" id="8"/>
            <p:cNvSpPr txBox="true"/>
            <p:nvPr/>
          </p:nvSpPr>
          <p:spPr>
            <a:xfrm rot="0">
              <a:off x="0" y="2197212"/>
              <a:ext cx="17259300" cy="558800"/>
            </a:xfrm>
            <a:prstGeom prst="rect">
              <a:avLst/>
            </a:prstGeom>
          </p:spPr>
          <p:txBody>
            <a:bodyPr anchor="t" rtlCol="false" tIns="0" lIns="0" bIns="0" rIns="0">
              <a:spAutoFit/>
            </a:bodyPr>
            <a:lstStyle/>
            <a:p>
              <a:pPr algn="l" marL="0" indent="0" lvl="0">
                <a:lnSpc>
                  <a:spcPts val="3000"/>
                </a:lnSpc>
                <a:spcBef>
                  <a:spcPct val="0"/>
                </a:spcBef>
              </a:pPr>
              <a:r>
                <a:rPr lang="en-US" b="true" sz="2500" spc="-37">
                  <a:solidFill>
                    <a:srgbClr val="5A6A45"/>
                  </a:solidFill>
                  <a:latin typeface="Helvetica World Bold"/>
                  <a:ea typeface="Helvetica World Bold"/>
                  <a:cs typeface="Helvetica World Bold"/>
                  <a:sym typeface="Helvetica World Bold"/>
                </a:rPr>
                <a:t>Exploring Predictive Insights with Excel</a:t>
              </a:r>
            </a:p>
          </p:txBody>
        </p:sp>
      </p:grpSp>
      <p:sp>
        <p:nvSpPr>
          <p:cNvPr name="Freeform 9" id="9"/>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0" id="10"/>
          <p:cNvSpPr txBox="true"/>
          <p:nvPr/>
        </p:nvSpPr>
        <p:spPr>
          <a:xfrm rot="0">
            <a:off x="1800225" y="4103327"/>
            <a:ext cx="6981825" cy="4492627"/>
          </a:xfrm>
          <a:prstGeom prst="rect">
            <a:avLst/>
          </a:prstGeom>
        </p:spPr>
        <p:txBody>
          <a:bodyPr anchor="t" rtlCol="false" tIns="0" lIns="0" bIns="0" rIns="0">
            <a:spAutoFit/>
          </a:bodyPr>
          <a:lstStyle/>
          <a:p>
            <a:pPr algn="l" marL="0" indent="0" lvl="0">
              <a:lnSpc>
                <a:spcPts val="8800"/>
              </a:lnSpc>
            </a:pPr>
            <a:r>
              <a:rPr lang="en-US" sz="8000" spc="-240">
                <a:solidFill>
                  <a:srgbClr val="5A6A45"/>
                </a:solidFill>
                <a:latin typeface="Georgia Pro Condensed"/>
                <a:ea typeface="Georgia Pro Condensed"/>
                <a:cs typeface="Georgia Pro Condensed"/>
                <a:sym typeface="Georgia Pro Condensed"/>
              </a:rPr>
              <a:t>Predicting Customer Behavior with Scenario Analysis</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8CB369"/>
        </a:solidFill>
      </p:bgPr>
    </p:bg>
    <p:spTree>
      <p:nvGrpSpPr>
        <p:cNvPr id="1" name=""/>
        <p:cNvGrpSpPr/>
        <p:nvPr/>
      </p:nvGrpSpPr>
      <p:grpSpPr>
        <a:xfrm>
          <a:off x="0" y="0"/>
          <a:ext cx="0" cy="0"/>
          <a:chOff x="0" y="0"/>
          <a:chExt cx="0" cy="0"/>
        </a:xfrm>
      </p:grpSpPr>
      <p:grpSp>
        <p:nvGrpSpPr>
          <p:cNvPr name="Group 2" id="2"/>
          <p:cNvGrpSpPr/>
          <p:nvPr/>
        </p:nvGrpSpPr>
        <p:grpSpPr>
          <a:xfrm rot="0">
            <a:off x="676275"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0E2B6"/>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557A46"/>
            </a:solidFill>
          </p:spPr>
        </p:sp>
      </p:grpSp>
      <p:grpSp>
        <p:nvGrpSpPr>
          <p:cNvPr name="Group 5" id="5"/>
          <p:cNvGrpSpPr/>
          <p:nvPr/>
        </p:nvGrpSpPr>
        <p:grpSpPr>
          <a:xfrm rot="0">
            <a:off x="1800225" y="3764449"/>
            <a:ext cx="4717524" cy="4960451"/>
            <a:chOff x="0" y="0"/>
            <a:chExt cx="1242476" cy="1306456"/>
          </a:xfrm>
        </p:grpSpPr>
        <p:sp>
          <p:nvSpPr>
            <p:cNvPr name="Freeform 6" id="6"/>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8" id="8"/>
          <p:cNvGrpSpPr/>
          <p:nvPr/>
        </p:nvGrpSpPr>
        <p:grpSpPr>
          <a:xfrm rot="0">
            <a:off x="6785238" y="3764449"/>
            <a:ext cx="4717524" cy="4960451"/>
            <a:chOff x="0" y="0"/>
            <a:chExt cx="1242476" cy="1306456"/>
          </a:xfrm>
        </p:grpSpPr>
        <p:sp>
          <p:nvSpPr>
            <p:cNvPr name="Freeform 9" id="9"/>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0" id="10"/>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11" id="11"/>
          <p:cNvGrpSpPr/>
          <p:nvPr/>
        </p:nvGrpSpPr>
        <p:grpSpPr>
          <a:xfrm rot="0">
            <a:off x="11770251" y="3764449"/>
            <a:ext cx="4717524" cy="4960451"/>
            <a:chOff x="0" y="0"/>
            <a:chExt cx="1242476" cy="1306456"/>
          </a:xfrm>
        </p:grpSpPr>
        <p:sp>
          <p:nvSpPr>
            <p:cNvPr name="Freeform 12" id="12"/>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3" id="13"/>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sp>
        <p:nvSpPr>
          <p:cNvPr name="TextBox 14" id="14"/>
          <p:cNvSpPr txBox="true"/>
          <p:nvPr/>
        </p:nvSpPr>
        <p:spPr>
          <a:xfrm rot="0">
            <a:off x="2105025" y="1504950"/>
            <a:ext cx="14077950" cy="1695450"/>
          </a:xfrm>
          <a:prstGeom prst="rect">
            <a:avLst/>
          </a:prstGeom>
        </p:spPr>
        <p:txBody>
          <a:bodyPr anchor="t" rtlCol="false" tIns="0" lIns="0" bIns="0" rIns="0">
            <a:spAutoFit/>
          </a:bodyPr>
          <a:lstStyle/>
          <a:p>
            <a:pPr algn="ctr" marL="0" indent="0" lvl="0">
              <a:lnSpc>
                <a:spcPts val="6480"/>
              </a:lnSpc>
            </a:pPr>
            <a:r>
              <a:rPr lang="en-US" b="true" sz="5400" spc="-135">
                <a:solidFill>
                  <a:srgbClr val="557A46"/>
                </a:solidFill>
                <a:latin typeface="Gatwick Ultra-Bold"/>
                <a:ea typeface="Gatwick Ultra-Bold"/>
                <a:cs typeface="Gatwick Ultra-Bold"/>
                <a:sym typeface="Gatwick Ultra-Bold"/>
              </a:rPr>
              <a:t>Scenario Analysis Techniques for Business Insights</a:t>
            </a:r>
          </a:p>
        </p:txBody>
      </p:sp>
      <p:grpSp>
        <p:nvGrpSpPr>
          <p:cNvPr name="Group 15" id="15"/>
          <p:cNvGrpSpPr/>
          <p:nvPr/>
        </p:nvGrpSpPr>
        <p:grpSpPr>
          <a:xfrm rot="0">
            <a:off x="2124075" y="4248150"/>
            <a:ext cx="4010025" cy="3539490"/>
            <a:chOff x="0" y="0"/>
            <a:chExt cx="5346700" cy="4719320"/>
          </a:xfrm>
        </p:grpSpPr>
        <p:sp>
          <p:nvSpPr>
            <p:cNvPr name="TextBox 16" id="16"/>
            <p:cNvSpPr txBox="true"/>
            <p:nvPr/>
          </p:nvSpPr>
          <p:spPr>
            <a:xfrm rot="0">
              <a:off x="0" y="527685"/>
              <a:ext cx="5346700" cy="4191635"/>
            </a:xfrm>
            <a:prstGeom prst="rect">
              <a:avLst/>
            </a:prstGeom>
          </p:spPr>
          <p:txBody>
            <a:bodyPr anchor="t" rtlCol="false" tIns="0" lIns="0" bIns="0" rIns="0">
              <a:spAutoFit/>
            </a:bodyPr>
            <a:lstStyle/>
            <a:p>
              <a:pPr algn="ctr" marL="0" indent="0" lvl="0">
                <a:lnSpc>
                  <a:spcPts val="3120"/>
                </a:lnSpc>
              </a:pPr>
              <a:r>
                <a:rPr lang="en-US" sz="2400">
                  <a:solidFill>
                    <a:srgbClr val="405931"/>
                  </a:solidFill>
                  <a:latin typeface="Codec Pro"/>
                  <a:ea typeface="Codec Pro"/>
                  <a:cs typeface="Codec Pro"/>
                  <a:sym typeface="Codec Pro"/>
                </a:rPr>
                <a:t>What-If Analysis enables businesses to explore </a:t>
              </a:r>
              <a:r>
                <a:rPr lang="en-US" b="true" sz="2400">
                  <a:solidFill>
                    <a:srgbClr val="405931"/>
                  </a:solidFill>
                  <a:latin typeface="Codec Pro Bold"/>
                  <a:ea typeface="Codec Pro Bold"/>
                  <a:cs typeface="Codec Pro Bold"/>
                  <a:sym typeface="Codec Pro Bold"/>
                </a:rPr>
                <a:t>different scenarios</a:t>
              </a:r>
              <a:r>
                <a:rPr lang="en-US" sz="2400">
                  <a:solidFill>
                    <a:srgbClr val="405931"/>
                  </a:solidFill>
                  <a:latin typeface="Codec Pro"/>
                  <a:ea typeface="Codec Pro"/>
                  <a:cs typeface="Codec Pro"/>
                  <a:sym typeface="Codec Pro"/>
                </a:rPr>
                <a:t>, predicting outcomes based on varying customer behaviors, which aids in strategic decision-making and planning.</a:t>
              </a:r>
            </a:p>
          </p:txBody>
        </p:sp>
        <p:sp>
          <p:nvSpPr>
            <p:cNvPr name="TextBox 17" id="17"/>
            <p:cNvSpPr txBox="true"/>
            <p:nvPr/>
          </p:nvSpPr>
          <p:spPr>
            <a:xfrm rot="0">
              <a:off x="0" y="-66675"/>
              <a:ext cx="5346700" cy="559435"/>
            </a:xfrm>
            <a:prstGeom prst="rect">
              <a:avLst/>
            </a:prstGeom>
          </p:spPr>
          <p:txBody>
            <a:bodyPr anchor="t" rtlCol="false" tIns="0" lIns="0" bIns="0" rIns="0">
              <a:spAutoFit/>
            </a:bodyPr>
            <a:lstStyle/>
            <a:p>
              <a:pPr algn="ctr" marL="0" indent="0" lvl="0">
                <a:lnSpc>
                  <a:spcPts val="3120"/>
                </a:lnSpc>
              </a:pPr>
              <a:r>
                <a:rPr lang="en-US" b="true" sz="2400">
                  <a:solidFill>
                    <a:srgbClr val="405931"/>
                  </a:solidFill>
                  <a:latin typeface="Codec Pro Ultra-Bold"/>
                  <a:ea typeface="Codec Pro Ultra-Bold"/>
                  <a:cs typeface="Codec Pro Ultra-Bold"/>
                  <a:sym typeface="Codec Pro Ultra-Bold"/>
                </a:rPr>
                <a:t>What-If Analysis</a:t>
              </a:r>
            </a:p>
          </p:txBody>
        </p:sp>
      </p:grpSp>
      <p:grpSp>
        <p:nvGrpSpPr>
          <p:cNvPr name="Group 18" id="18"/>
          <p:cNvGrpSpPr/>
          <p:nvPr/>
        </p:nvGrpSpPr>
        <p:grpSpPr>
          <a:xfrm rot="0">
            <a:off x="7138988" y="4248150"/>
            <a:ext cx="4010025" cy="3148965"/>
            <a:chOff x="0" y="0"/>
            <a:chExt cx="5346700" cy="4198620"/>
          </a:xfrm>
        </p:grpSpPr>
        <p:sp>
          <p:nvSpPr>
            <p:cNvPr name="TextBox 19" id="19"/>
            <p:cNvSpPr txBox="true"/>
            <p:nvPr/>
          </p:nvSpPr>
          <p:spPr>
            <a:xfrm rot="0">
              <a:off x="0" y="527685"/>
              <a:ext cx="5346700" cy="3670935"/>
            </a:xfrm>
            <a:prstGeom prst="rect">
              <a:avLst/>
            </a:prstGeom>
          </p:spPr>
          <p:txBody>
            <a:bodyPr anchor="t" rtlCol="false" tIns="0" lIns="0" bIns="0" rIns="0">
              <a:spAutoFit/>
            </a:bodyPr>
            <a:lstStyle/>
            <a:p>
              <a:pPr algn="ctr" marL="0" indent="0" lvl="0">
                <a:lnSpc>
                  <a:spcPts val="3120"/>
                </a:lnSpc>
              </a:pPr>
              <a:r>
                <a:rPr lang="en-US" sz="2400">
                  <a:solidFill>
                    <a:srgbClr val="405931"/>
                  </a:solidFill>
                  <a:latin typeface="Codec Pro"/>
                  <a:ea typeface="Codec Pro"/>
                  <a:cs typeface="Codec Pro"/>
                  <a:sym typeface="Codec Pro"/>
                </a:rPr>
                <a:t>The Scenario Manager allows users to create and compare multiple scenarios quickly, providing a clear summary of how changes affect business outcomes and strategies.</a:t>
              </a:r>
            </a:p>
          </p:txBody>
        </p:sp>
        <p:sp>
          <p:nvSpPr>
            <p:cNvPr name="TextBox 20" id="20"/>
            <p:cNvSpPr txBox="true"/>
            <p:nvPr/>
          </p:nvSpPr>
          <p:spPr>
            <a:xfrm rot="0">
              <a:off x="0" y="-66675"/>
              <a:ext cx="5346700" cy="559435"/>
            </a:xfrm>
            <a:prstGeom prst="rect">
              <a:avLst/>
            </a:prstGeom>
          </p:spPr>
          <p:txBody>
            <a:bodyPr anchor="t" rtlCol="false" tIns="0" lIns="0" bIns="0" rIns="0">
              <a:spAutoFit/>
            </a:bodyPr>
            <a:lstStyle/>
            <a:p>
              <a:pPr algn="ctr" marL="0" indent="0" lvl="0">
                <a:lnSpc>
                  <a:spcPts val="3120"/>
                </a:lnSpc>
              </a:pPr>
              <a:r>
                <a:rPr lang="en-US" b="true" sz="2400">
                  <a:solidFill>
                    <a:srgbClr val="405931"/>
                  </a:solidFill>
                  <a:latin typeface="Codec Pro Ultra-Bold"/>
                  <a:ea typeface="Codec Pro Ultra-Bold"/>
                  <a:cs typeface="Codec Pro Ultra-Bold"/>
                  <a:sym typeface="Codec Pro Ultra-Bold"/>
                </a:rPr>
                <a:t>Scenario Manager</a:t>
              </a:r>
            </a:p>
          </p:txBody>
        </p:sp>
      </p:grpSp>
      <p:grpSp>
        <p:nvGrpSpPr>
          <p:cNvPr name="Group 21" id="21"/>
          <p:cNvGrpSpPr/>
          <p:nvPr/>
        </p:nvGrpSpPr>
        <p:grpSpPr>
          <a:xfrm rot="0">
            <a:off x="12172950" y="4248213"/>
            <a:ext cx="4010025" cy="3148965"/>
            <a:chOff x="0" y="0"/>
            <a:chExt cx="5346700" cy="4198620"/>
          </a:xfrm>
        </p:grpSpPr>
        <p:sp>
          <p:nvSpPr>
            <p:cNvPr name="TextBox 22" id="22"/>
            <p:cNvSpPr txBox="true"/>
            <p:nvPr/>
          </p:nvSpPr>
          <p:spPr>
            <a:xfrm rot="0">
              <a:off x="0" y="527685"/>
              <a:ext cx="5346700" cy="3670935"/>
            </a:xfrm>
            <a:prstGeom prst="rect">
              <a:avLst/>
            </a:prstGeom>
          </p:spPr>
          <p:txBody>
            <a:bodyPr anchor="t" rtlCol="false" tIns="0" lIns="0" bIns="0" rIns="0">
              <a:spAutoFit/>
            </a:bodyPr>
            <a:lstStyle/>
            <a:p>
              <a:pPr algn="ctr" marL="0" indent="0" lvl="0">
                <a:lnSpc>
                  <a:spcPts val="3120"/>
                </a:lnSpc>
              </a:pPr>
              <a:r>
                <a:rPr lang="en-US" sz="2400" strike="noStrike" u="none">
                  <a:solidFill>
                    <a:srgbClr val="405931"/>
                  </a:solidFill>
                  <a:latin typeface="Codec Pro"/>
                  <a:ea typeface="Codec Pro"/>
                  <a:cs typeface="Codec Pro"/>
                  <a:sym typeface="Codec Pro"/>
                </a:rPr>
                <a:t>The Goal Seek function identifies the necessary inputs required to achieve specific financial goals, allowing businesses to optimize revenue targets efficiently and effectively.</a:t>
              </a:r>
            </a:p>
          </p:txBody>
        </p:sp>
        <p:sp>
          <p:nvSpPr>
            <p:cNvPr name="TextBox 23" id="23"/>
            <p:cNvSpPr txBox="true"/>
            <p:nvPr/>
          </p:nvSpPr>
          <p:spPr>
            <a:xfrm rot="0">
              <a:off x="0" y="-66675"/>
              <a:ext cx="5346700" cy="559435"/>
            </a:xfrm>
            <a:prstGeom prst="rect">
              <a:avLst/>
            </a:prstGeom>
          </p:spPr>
          <p:txBody>
            <a:bodyPr anchor="t" rtlCol="false" tIns="0" lIns="0" bIns="0" rIns="0">
              <a:spAutoFit/>
            </a:bodyPr>
            <a:lstStyle/>
            <a:p>
              <a:pPr algn="ctr" marL="0" indent="0" lvl="0">
                <a:lnSpc>
                  <a:spcPts val="3120"/>
                </a:lnSpc>
              </a:pPr>
              <a:r>
                <a:rPr lang="en-US" b="true" sz="2400">
                  <a:solidFill>
                    <a:srgbClr val="405931"/>
                  </a:solidFill>
                  <a:latin typeface="Codec Pro Ultra-Bold"/>
                  <a:ea typeface="Codec Pro Ultra-Bold"/>
                  <a:cs typeface="Codec Pro Ultra-Bold"/>
                  <a:sym typeface="Codec Pro Ultra-Bold"/>
                </a:rPr>
                <a:t>Goal Seek Function</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8CB36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0E2B6"/>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557A46"/>
            </a:solidFill>
          </p:spPr>
        </p:sp>
      </p:grpSp>
      <p:sp>
        <p:nvSpPr>
          <p:cNvPr name="Freeform 5" id="5"/>
          <p:cNvSpPr/>
          <p:nvPr/>
        </p:nvSpPr>
        <p:spPr>
          <a:xfrm flipH="false" flipV="false" rot="0">
            <a:off x="6153173" y="2347900"/>
            <a:ext cx="10862418" cy="4501539"/>
          </a:xfrm>
          <a:custGeom>
            <a:avLst/>
            <a:gdLst/>
            <a:ahLst/>
            <a:cxnLst/>
            <a:rect r="r" b="b" t="t" l="l"/>
            <a:pathLst>
              <a:path h="4501539" w="10862418">
                <a:moveTo>
                  <a:pt x="0" y="0"/>
                </a:moveTo>
                <a:lnTo>
                  <a:pt x="10862417" y="0"/>
                </a:lnTo>
                <a:lnTo>
                  <a:pt x="10862417" y="4501539"/>
                </a:lnTo>
                <a:lnTo>
                  <a:pt x="0" y="4501539"/>
                </a:lnTo>
                <a:lnTo>
                  <a:pt x="0" y="0"/>
                </a:lnTo>
                <a:close/>
              </a:path>
            </a:pathLst>
          </a:custGeom>
          <a:blipFill>
            <a:blip r:embed="rId2"/>
            <a:stretch>
              <a:fillRect l="-7603" t="-4740" r="-4147" b="-4740"/>
            </a:stretch>
          </a:blipFill>
        </p:spPr>
      </p:sp>
      <p:sp>
        <p:nvSpPr>
          <p:cNvPr name="TextBox 6" id="6"/>
          <p:cNvSpPr txBox="true"/>
          <p:nvPr/>
        </p:nvSpPr>
        <p:spPr>
          <a:xfrm rot="0">
            <a:off x="666750" y="9553575"/>
            <a:ext cx="16954500" cy="426720"/>
          </a:xfrm>
          <a:prstGeom prst="rect">
            <a:avLst/>
          </a:prstGeom>
        </p:spPr>
        <p:txBody>
          <a:bodyPr anchor="t" rtlCol="false" tIns="0" lIns="0" bIns="0" rIns="0">
            <a:spAutoFit/>
          </a:bodyPr>
          <a:lstStyle/>
          <a:p>
            <a:pPr algn="ctr">
              <a:lnSpc>
                <a:spcPts val="3120"/>
              </a:lnSpc>
              <a:spcBef>
                <a:spcPct val="0"/>
              </a:spcBef>
            </a:pPr>
            <a:r>
              <a:rPr lang="en-US" sz="2400">
                <a:solidFill>
                  <a:srgbClr val="000000"/>
                </a:solidFill>
                <a:latin typeface="Codec Pro"/>
                <a:ea typeface="Codec Pro"/>
                <a:cs typeface="Codec Pro"/>
                <a:sym typeface="Codec Pro"/>
              </a:rPr>
              <a:t>Your paragraph text</a:t>
            </a:r>
          </a:p>
        </p:txBody>
      </p:sp>
      <p:sp>
        <p:nvSpPr>
          <p:cNvPr name="TextBox 7" id="7"/>
          <p:cNvSpPr txBox="true"/>
          <p:nvPr/>
        </p:nvSpPr>
        <p:spPr>
          <a:xfrm rot="0">
            <a:off x="1028700" y="3882388"/>
            <a:ext cx="4258270" cy="1261112"/>
          </a:xfrm>
          <a:prstGeom prst="rect">
            <a:avLst/>
          </a:prstGeom>
        </p:spPr>
        <p:txBody>
          <a:bodyPr anchor="t" rtlCol="false" tIns="0" lIns="0" bIns="0" rIns="0">
            <a:spAutoFit/>
          </a:bodyPr>
          <a:lstStyle/>
          <a:p>
            <a:pPr algn="ctr">
              <a:lnSpc>
                <a:spcPts val="9359"/>
              </a:lnSpc>
              <a:spcBef>
                <a:spcPct val="0"/>
              </a:spcBef>
            </a:pPr>
            <a:r>
              <a:rPr lang="en-US" b="true" sz="7199">
                <a:solidFill>
                  <a:srgbClr val="405931"/>
                </a:solidFill>
                <a:latin typeface="Codec Pro Bold"/>
                <a:ea typeface="Codec Pro Bold"/>
                <a:cs typeface="Codec Pro Bold"/>
                <a:sym typeface="Codec Pro Bold"/>
              </a:rPr>
              <a:t>Goal seek</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D0E2B6"/>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A7CF83"/>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557A46"/>
            </a:solidFill>
          </p:spPr>
        </p:sp>
      </p:grpSp>
      <p:grpSp>
        <p:nvGrpSpPr>
          <p:cNvPr name="Group 5" id="5"/>
          <p:cNvGrpSpPr/>
          <p:nvPr/>
        </p:nvGrpSpPr>
        <p:grpSpPr>
          <a:xfrm rot="0">
            <a:off x="1800225" y="3352800"/>
            <a:ext cx="14687550" cy="5372100"/>
            <a:chOff x="0" y="0"/>
            <a:chExt cx="3868326" cy="1414874"/>
          </a:xfrm>
        </p:grpSpPr>
        <p:sp>
          <p:nvSpPr>
            <p:cNvPr name="Freeform 6" id="6"/>
            <p:cNvSpPr/>
            <p:nvPr/>
          </p:nvSpPr>
          <p:spPr>
            <a:xfrm flipH="false" flipV="false" rot="0">
              <a:off x="0" y="0"/>
              <a:ext cx="3868326" cy="1414874"/>
            </a:xfrm>
            <a:custGeom>
              <a:avLst/>
              <a:gdLst/>
              <a:ahLst/>
              <a:cxnLst/>
              <a:rect r="r" b="b" t="t" l="l"/>
              <a:pathLst>
                <a:path h="1414874" w="3868326">
                  <a:moveTo>
                    <a:pt x="26355" y="0"/>
                  </a:moveTo>
                  <a:lnTo>
                    <a:pt x="3841971" y="0"/>
                  </a:lnTo>
                  <a:cubicBezTo>
                    <a:pt x="3856526" y="0"/>
                    <a:pt x="3868326" y="11800"/>
                    <a:pt x="3868326" y="26355"/>
                  </a:cubicBezTo>
                  <a:lnTo>
                    <a:pt x="3868326" y="1388519"/>
                  </a:lnTo>
                  <a:cubicBezTo>
                    <a:pt x="3868326" y="1395509"/>
                    <a:pt x="3865549" y="1402212"/>
                    <a:pt x="3860607" y="1407155"/>
                  </a:cubicBezTo>
                  <a:cubicBezTo>
                    <a:pt x="3855664" y="1412097"/>
                    <a:pt x="3848960" y="1414874"/>
                    <a:pt x="3841971" y="1414874"/>
                  </a:cubicBezTo>
                  <a:lnTo>
                    <a:pt x="26355" y="1414874"/>
                  </a:lnTo>
                  <a:cubicBezTo>
                    <a:pt x="11800" y="1414874"/>
                    <a:pt x="0" y="1403074"/>
                    <a:pt x="0" y="1388519"/>
                  </a:cubicBezTo>
                  <a:lnTo>
                    <a:pt x="0" y="26355"/>
                  </a:lnTo>
                  <a:cubicBezTo>
                    <a:pt x="0" y="11800"/>
                    <a:pt x="11800" y="0"/>
                    <a:pt x="26355"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3868326" cy="1481549"/>
            </a:xfrm>
            <a:prstGeom prst="rect">
              <a:avLst/>
            </a:prstGeom>
          </p:spPr>
          <p:txBody>
            <a:bodyPr anchor="ctr" rtlCol="false" tIns="127000" lIns="127000" bIns="127000" rIns="127000"/>
            <a:lstStyle/>
            <a:p>
              <a:pPr algn="ctr" marL="0" indent="0" lvl="0">
                <a:lnSpc>
                  <a:spcPts val="3120"/>
                </a:lnSpc>
              </a:pPr>
            </a:p>
          </p:txBody>
        </p:sp>
      </p:grpSp>
      <p:sp>
        <p:nvSpPr>
          <p:cNvPr name="Freeform 8" id="8"/>
          <p:cNvSpPr/>
          <p:nvPr/>
        </p:nvSpPr>
        <p:spPr>
          <a:xfrm flipH="false" flipV="false" rot="0">
            <a:off x="8818616" y="3352800"/>
            <a:ext cx="7669159" cy="5200625"/>
          </a:xfrm>
          <a:custGeom>
            <a:avLst/>
            <a:gdLst/>
            <a:ahLst/>
            <a:cxnLst/>
            <a:rect r="r" b="b" t="t" l="l"/>
            <a:pathLst>
              <a:path h="5200625" w="7669159">
                <a:moveTo>
                  <a:pt x="0" y="0"/>
                </a:moveTo>
                <a:lnTo>
                  <a:pt x="7669159" y="0"/>
                </a:lnTo>
                <a:lnTo>
                  <a:pt x="7669159" y="5200625"/>
                </a:lnTo>
                <a:lnTo>
                  <a:pt x="0" y="5200625"/>
                </a:lnTo>
                <a:lnTo>
                  <a:pt x="0" y="0"/>
                </a:lnTo>
                <a:close/>
              </a:path>
            </a:pathLst>
          </a:custGeom>
          <a:blipFill>
            <a:blip r:embed="rId2"/>
            <a:stretch>
              <a:fillRect l="-15806" t="0" r="0" b="0"/>
            </a:stretch>
          </a:blipFill>
        </p:spPr>
      </p:sp>
      <p:graphicFrame>
        <p:nvGraphicFramePr>
          <p:cNvPr name="Object 9" id="9"/>
          <p:cNvGraphicFramePr/>
          <p:nvPr/>
        </p:nvGraphicFramePr>
        <p:xfrm>
          <a:off x="3678824" y="3400425"/>
          <a:ext cx="3771900" cy="5029200"/>
        </p:xfrm>
        <a:graphic>
          <a:graphicData uri="http://schemas.openxmlformats.org/presentationml/2006/ole">
            <p:oleObj imgW="4775200" imgH="60325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0" id="10"/>
          <p:cNvSpPr txBox="true"/>
          <p:nvPr/>
        </p:nvSpPr>
        <p:spPr>
          <a:xfrm rot="0">
            <a:off x="2105025" y="15049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405931"/>
                </a:solidFill>
                <a:latin typeface="Gatwick Ultra-Bold"/>
                <a:ea typeface="Gatwick Ultra-Bold"/>
                <a:cs typeface="Gatwick Ultra-Bold"/>
                <a:sym typeface="Gatwick Ultra-Bold"/>
              </a:rPr>
              <a:t>Example Scenario</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557A46"/>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0E2B6"/>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729850"/>
            </a:solidFill>
          </p:spPr>
        </p:sp>
      </p:grpSp>
      <p:grpSp>
        <p:nvGrpSpPr>
          <p:cNvPr name="Group 5" id="5"/>
          <p:cNvGrpSpPr/>
          <p:nvPr/>
        </p:nvGrpSpPr>
        <p:grpSpPr>
          <a:xfrm rot="0">
            <a:off x="1800225" y="3764449"/>
            <a:ext cx="4717524" cy="4960451"/>
            <a:chOff x="0" y="0"/>
            <a:chExt cx="1242476" cy="1306456"/>
          </a:xfrm>
        </p:grpSpPr>
        <p:sp>
          <p:nvSpPr>
            <p:cNvPr name="Freeform 6" id="6"/>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8" id="8"/>
          <p:cNvGrpSpPr/>
          <p:nvPr/>
        </p:nvGrpSpPr>
        <p:grpSpPr>
          <a:xfrm rot="0">
            <a:off x="6785238" y="3764449"/>
            <a:ext cx="4717524" cy="4960451"/>
            <a:chOff x="0" y="0"/>
            <a:chExt cx="1242476" cy="1306456"/>
          </a:xfrm>
        </p:grpSpPr>
        <p:sp>
          <p:nvSpPr>
            <p:cNvPr name="Freeform 9" id="9"/>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0" id="10"/>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11" id="11"/>
          <p:cNvGrpSpPr/>
          <p:nvPr/>
        </p:nvGrpSpPr>
        <p:grpSpPr>
          <a:xfrm rot="0">
            <a:off x="11770251" y="3764449"/>
            <a:ext cx="4717524" cy="4960451"/>
            <a:chOff x="0" y="0"/>
            <a:chExt cx="1242476" cy="1306456"/>
          </a:xfrm>
        </p:grpSpPr>
        <p:sp>
          <p:nvSpPr>
            <p:cNvPr name="Freeform 12" id="12"/>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3" id="13"/>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sp>
        <p:nvSpPr>
          <p:cNvPr name="TextBox 14" id="14"/>
          <p:cNvSpPr txBox="true"/>
          <p:nvPr/>
        </p:nvSpPr>
        <p:spPr>
          <a:xfrm rot="0">
            <a:off x="2105025" y="1504950"/>
            <a:ext cx="14077950" cy="1695450"/>
          </a:xfrm>
          <a:prstGeom prst="rect">
            <a:avLst/>
          </a:prstGeom>
        </p:spPr>
        <p:txBody>
          <a:bodyPr anchor="t" rtlCol="false" tIns="0" lIns="0" bIns="0" rIns="0">
            <a:spAutoFit/>
          </a:bodyPr>
          <a:lstStyle/>
          <a:p>
            <a:pPr algn="ctr" marL="0" indent="0" lvl="0">
              <a:lnSpc>
                <a:spcPts val="6480"/>
              </a:lnSpc>
            </a:pPr>
            <a:r>
              <a:rPr lang="en-US" b="true" sz="5400" spc="-135">
                <a:solidFill>
                  <a:srgbClr val="557A46"/>
                </a:solidFill>
                <a:latin typeface="Gatwick Ultra-Bold"/>
                <a:ea typeface="Gatwick Ultra-Bold"/>
                <a:cs typeface="Gatwick Ultra-Bold"/>
                <a:sym typeface="Gatwick Ultra-Bold"/>
              </a:rPr>
              <a:t>Key Recommendations for Business Growth</a:t>
            </a:r>
          </a:p>
        </p:txBody>
      </p:sp>
      <p:grpSp>
        <p:nvGrpSpPr>
          <p:cNvPr name="Group 15" id="15"/>
          <p:cNvGrpSpPr/>
          <p:nvPr/>
        </p:nvGrpSpPr>
        <p:grpSpPr>
          <a:xfrm rot="0">
            <a:off x="2178450" y="4248150"/>
            <a:ext cx="3961075" cy="3158463"/>
            <a:chOff x="0" y="0"/>
            <a:chExt cx="5281434" cy="4211284"/>
          </a:xfrm>
        </p:grpSpPr>
        <p:sp>
          <p:nvSpPr>
            <p:cNvPr name="TextBox 16" id="16"/>
            <p:cNvSpPr txBox="true"/>
            <p:nvPr/>
          </p:nvSpPr>
          <p:spPr>
            <a:xfrm rot="0">
              <a:off x="0" y="1061049"/>
              <a:ext cx="5281434" cy="3150235"/>
            </a:xfrm>
            <a:prstGeom prst="rect">
              <a:avLst/>
            </a:prstGeom>
          </p:spPr>
          <p:txBody>
            <a:bodyPr anchor="t" rtlCol="false" tIns="0" lIns="0" bIns="0" rIns="0">
              <a:spAutoFit/>
            </a:bodyPr>
            <a:lstStyle/>
            <a:p>
              <a:pPr algn="ctr" marL="0" indent="0" lvl="0">
                <a:lnSpc>
                  <a:spcPts val="3120"/>
                </a:lnSpc>
              </a:pPr>
              <a:r>
                <a:rPr lang="en-US" sz="2400">
                  <a:solidFill>
                    <a:srgbClr val="405931"/>
                  </a:solidFill>
                  <a:latin typeface="Codec Pro"/>
                  <a:ea typeface="Codec Pro"/>
                  <a:cs typeface="Codec Pro"/>
                  <a:sym typeface="Codec Pro"/>
                </a:rPr>
                <a:t>Focus on </a:t>
              </a:r>
              <a:r>
                <a:rPr lang="en-US" b="true" sz="2400">
                  <a:solidFill>
                    <a:srgbClr val="405931"/>
                  </a:solidFill>
                  <a:latin typeface="Codec Pro Bold"/>
                  <a:ea typeface="Codec Pro Bold"/>
                  <a:cs typeface="Codec Pro Bold"/>
                  <a:sym typeface="Codec Pro Bold"/>
                </a:rPr>
                <a:t>high-income wine and gold buyers</a:t>
              </a:r>
              <a:r>
                <a:rPr lang="en-US" sz="2400">
                  <a:solidFill>
                    <a:srgbClr val="405931"/>
                  </a:solidFill>
                  <a:latin typeface="Codec Pro"/>
                  <a:ea typeface="Codec Pro"/>
                  <a:cs typeface="Codec Pro"/>
                  <a:sym typeface="Codec Pro"/>
                </a:rPr>
                <a:t> with premium campaigns to increase engagement and drive sales in lucrative segments.</a:t>
              </a:r>
            </a:p>
          </p:txBody>
        </p:sp>
        <p:sp>
          <p:nvSpPr>
            <p:cNvPr name="TextBox 17" id="17"/>
            <p:cNvSpPr txBox="true"/>
            <p:nvPr/>
          </p:nvSpPr>
          <p:spPr>
            <a:xfrm rot="0">
              <a:off x="0" y="-66675"/>
              <a:ext cx="5281434" cy="1092835"/>
            </a:xfrm>
            <a:prstGeom prst="rect">
              <a:avLst/>
            </a:prstGeom>
          </p:spPr>
          <p:txBody>
            <a:bodyPr anchor="t" rtlCol="false" tIns="0" lIns="0" bIns="0" rIns="0">
              <a:spAutoFit/>
            </a:bodyPr>
            <a:lstStyle/>
            <a:p>
              <a:pPr algn="ctr" marL="0" indent="0" lvl="0">
                <a:lnSpc>
                  <a:spcPts val="3120"/>
                </a:lnSpc>
              </a:pPr>
              <a:r>
                <a:rPr lang="en-US" b="true" sz="2400">
                  <a:solidFill>
                    <a:srgbClr val="405931"/>
                  </a:solidFill>
                  <a:latin typeface="Codec Pro Ultra-Bold"/>
                  <a:ea typeface="Codec Pro Ultra-Bold"/>
                  <a:cs typeface="Codec Pro Ultra-Bold"/>
                  <a:sym typeface="Codec Pro Ultra-Bold"/>
                </a:rPr>
                <a:t>Target High-Income Customers</a:t>
              </a:r>
            </a:p>
          </p:txBody>
        </p:sp>
      </p:grpSp>
      <p:grpSp>
        <p:nvGrpSpPr>
          <p:cNvPr name="Group 18" id="18"/>
          <p:cNvGrpSpPr/>
          <p:nvPr/>
        </p:nvGrpSpPr>
        <p:grpSpPr>
          <a:xfrm rot="0">
            <a:off x="7163462" y="4248150"/>
            <a:ext cx="3961075" cy="3549015"/>
            <a:chOff x="0" y="0"/>
            <a:chExt cx="5281434" cy="4732020"/>
          </a:xfrm>
        </p:grpSpPr>
        <p:sp>
          <p:nvSpPr>
            <p:cNvPr name="TextBox 19" id="19"/>
            <p:cNvSpPr txBox="true"/>
            <p:nvPr/>
          </p:nvSpPr>
          <p:spPr>
            <a:xfrm rot="0">
              <a:off x="0" y="1061085"/>
              <a:ext cx="5281434" cy="3670935"/>
            </a:xfrm>
            <a:prstGeom prst="rect">
              <a:avLst/>
            </a:prstGeom>
          </p:spPr>
          <p:txBody>
            <a:bodyPr anchor="t" rtlCol="false" tIns="0" lIns="0" bIns="0" rIns="0">
              <a:spAutoFit/>
            </a:bodyPr>
            <a:lstStyle/>
            <a:p>
              <a:pPr algn="ctr" marL="0" indent="0" lvl="0">
                <a:lnSpc>
                  <a:spcPts val="3120"/>
                </a:lnSpc>
              </a:pPr>
              <a:r>
                <a:rPr lang="en-US" sz="2400">
                  <a:solidFill>
                    <a:srgbClr val="405931"/>
                  </a:solidFill>
                  <a:latin typeface="Codec Pro"/>
                  <a:ea typeface="Codec Pro"/>
                  <a:cs typeface="Codec Pro"/>
                  <a:sym typeface="Codec Pro"/>
                </a:rPr>
                <a:t>Create product bundles appealing to </a:t>
              </a:r>
              <a:r>
                <a:rPr lang="en-US" b="true" sz="2400">
                  <a:solidFill>
                    <a:srgbClr val="405931"/>
                  </a:solidFill>
                  <a:latin typeface="Codec Pro Bold"/>
                  <a:ea typeface="Codec Pro Bold"/>
                  <a:cs typeface="Codec Pro Bold"/>
                  <a:sym typeface="Codec Pro Bold"/>
                </a:rPr>
                <a:t>middle-aged customers</a:t>
              </a:r>
              <a:r>
                <a:rPr lang="en-US" sz="2400">
                  <a:solidFill>
                    <a:srgbClr val="405931"/>
                  </a:solidFill>
                  <a:latin typeface="Codec Pro"/>
                  <a:ea typeface="Codec Pro"/>
                  <a:cs typeface="Codec Pro"/>
                  <a:sym typeface="Codec Pro"/>
                </a:rPr>
                <a:t> and families, fostering loyalty and enhancing customer satisfaction through tailored offerings.</a:t>
              </a:r>
            </a:p>
          </p:txBody>
        </p:sp>
        <p:sp>
          <p:nvSpPr>
            <p:cNvPr name="TextBox 20" id="20"/>
            <p:cNvSpPr txBox="true"/>
            <p:nvPr/>
          </p:nvSpPr>
          <p:spPr>
            <a:xfrm rot="0">
              <a:off x="0" y="-66675"/>
              <a:ext cx="5281434" cy="1092835"/>
            </a:xfrm>
            <a:prstGeom prst="rect">
              <a:avLst/>
            </a:prstGeom>
          </p:spPr>
          <p:txBody>
            <a:bodyPr anchor="t" rtlCol="false" tIns="0" lIns="0" bIns="0" rIns="0">
              <a:spAutoFit/>
            </a:bodyPr>
            <a:lstStyle/>
            <a:p>
              <a:pPr algn="ctr" marL="0" indent="0" lvl="0">
                <a:lnSpc>
                  <a:spcPts val="3120"/>
                </a:lnSpc>
              </a:pPr>
              <a:r>
                <a:rPr lang="en-US" b="true" sz="2400">
                  <a:solidFill>
                    <a:srgbClr val="405931"/>
                  </a:solidFill>
                  <a:latin typeface="Codec Pro Ultra-Bold"/>
                  <a:ea typeface="Codec Pro Ultra-Bold"/>
                  <a:cs typeface="Codec Pro Ultra-Bold"/>
                  <a:sym typeface="Codec Pro Ultra-Bold"/>
                </a:rPr>
                <a:t>Promote Family-Oriented Products</a:t>
              </a:r>
            </a:p>
          </p:txBody>
        </p:sp>
      </p:grpSp>
      <p:grpSp>
        <p:nvGrpSpPr>
          <p:cNvPr name="Group 21" id="21"/>
          <p:cNvGrpSpPr/>
          <p:nvPr/>
        </p:nvGrpSpPr>
        <p:grpSpPr>
          <a:xfrm rot="0">
            <a:off x="12148475" y="4248150"/>
            <a:ext cx="3961075" cy="3549015"/>
            <a:chOff x="0" y="0"/>
            <a:chExt cx="5281434" cy="4732020"/>
          </a:xfrm>
        </p:grpSpPr>
        <p:sp>
          <p:nvSpPr>
            <p:cNvPr name="TextBox 22" id="22"/>
            <p:cNvSpPr txBox="true"/>
            <p:nvPr/>
          </p:nvSpPr>
          <p:spPr>
            <a:xfrm rot="0">
              <a:off x="0" y="1061085"/>
              <a:ext cx="5281434" cy="3670935"/>
            </a:xfrm>
            <a:prstGeom prst="rect">
              <a:avLst/>
            </a:prstGeom>
          </p:spPr>
          <p:txBody>
            <a:bodyPr anchor="t" rtlCol="false" tIns="0" lIns="0" bIns="0" rIns="0">
              <a:spAutoFit/>
            </a:bodyPr>
            <a:lstStyle/>
            <a:p>
              <a:pPr algn="ctr" marL="0" indent="0" lvl="0">
                <a:lnSpc>
                  <a:spcPts val="3120"/>
                </a:lnSpc>
              </a:pPr>
              <a:r>
                <a:rPr lang="en-US" sz="2400">
                  <a:solidFill>
                    <a:srgbClr val="405931"/>
                  </a:solidFill>
                  <a:latin typeface="Codec Pro"/>
                  <a:ea typeface="Codec Pro"/>
                  <a:cs typeface="Codec Pro"/>
                  <a:sym typeface="Codec Pro"/>
                </a:rPr>
                <a:t>Improve the web-store experience for customers to drive </a:t>
              </a:r>
              <a:r>
                <a:rPr lang="en-US" b="true" sz="2400">
                  <a:solidFill>
                    <a:srgbClr val="405931"/>
                  </a:solidFill>
                  <a:latin typeface="Codec Pro Bold"/>
                  <a:ea typeface="Codec Pro Bold"/>
                  <a:cs typeface="Codec Pro Bold"/>
                  <a:sym typeface="Codec Pro Bold"/>
                </a:rPr>
                <a:t>increased online purchases</a:t>
              </a:r>
              <a:r>
                <a:rPr lang="en-US" sz="2400">
                  <a:solidFill>
                    <a:srgbClr val="405931"/>
                  </a:solidFill>
                  <a:latin typeface="Codec Pro"/>
                  <a:ea typeface="Codec Pro"/>
                  <a:cs typeface="Codec Pro"/>
                  <a:sym typeface="Codec Pro"/>
                </a:rPr>
                <a:t> and elevate overall customer experience through personalized engagement.</a:t>
              </a:r>
            </a:p>
          </p:txBody>
        </p:sp>
        <p:sp>
          <p:nvSpPr>
            <p:cNvPr name="TextBox 23" id="23"/>
            <p:cNvSpPr txBox="true"/>
            <p:nvPr/>
          </p:nvSpPr>
          <p:spPr>
            <a:xfrm rot="0">
              <a:off x="0" y="-66675"/>
              <a:ext cx="5281434" cy="1092835"/>
            </a:xfrm>
            <a:prstGeom prst="rect">
              <a:avLst/>
            </a:prstGeom>
          </p:spPr>
          <p:txBody>
            <a:bodyPr anchor="t" rtlCol="false" tIns="0" lIns="0" bIns="0" rIns="0">
              <a:spAutoFit/>
            </a:bodyPr>
            <a:lstStyle/>
            <a:p>
              <a:pPr algn="ctr" marL="0" indent="0" lvl="0">
                <a:lnSpc>
                  <a:spcPts val="3120"/>
                </a:lnSpc>
              </a:pPr>
              <a:r>
                <a:rPr lang="en-US" b="true" sz="2400">
                  <a:solidFill>
                    <a:srgbClr val="405931"/>
                  </a:solidFill>
                  <a:latin typeface="Codec Pro Ultra-Bold"/>
                  <a:ea typeface="Codec Pro Ultra-Bold"/>
                  <a:cs typeface="Codec Pro Ultra-Bold"/>
                  <a:sym typeface="Codec Pro Ultra-Bold"/>
                </a:rPr>
                <a:t>Enhance Online Experience</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557A46"/>
        </a:solidFill>
      </p:bgPr>
    </p:bg>
    <p:spTree>
      <p:nvGrpSpPr>
        <p:cNvPr id="1" name=""/>
        <p:cNvGrpSpPr/>
        <p:nvPr/>
      </p:nvGrpSpPr>
      <p:grpSpPr>
        <a:xfrm>
          <a:off x="0" y="0"/>
          <a:ext cx="0" cy="0"/>
          <a:chOff x="0" y="0"/>
          <a:chExt cx="0" cy="0"/>
        </a:xfrm>
      </p:grpSpPr>
      <p:sp>
        <p:nvSpPr>
          <p:cNvPr name="Freeform 2" id="2"/>
          <p:cNvSpPr/>
          <p:nvPr/>
        </p:nvSpPr>
        <p:spPr>
          <a:xfrm flipH="false" flipV="false" rot="0">
            <a:off x="8411641" y="1993567"/>
            <a:ext cx="8598141" cy="5599039"/>
          </a:xfrm>
          <a:custGeom>
            <a:avLst/>
            <a:gdLst/>
            <a:ahLst/>
            <a:cxnLst/>
            <a:rect r="r" b="b" t="t" l="l"/>
            <a:pathLst>
              <a:path h="5599039" w="8598141">
                <a:moveTo>
                  <a:pt x="0" y="0"/>
                </a:moveTo>
                <a:lnTo>
                  <a:pt x="8598141" y="0"/>
                </a:lnTo>
                <a:lnTo>
                  <a:pt x="8598141" y="5599039"/>
                </a:lnTo>
                <a:lnTo>
                  <a:pt x="0" y="5599039"/>
                </a:lnTo>
                <a:lnTo>
                  <a:pt x="0" y="0"/>
                </a:lnTo>
                <a:close/>
              </a:path>
            </a:pathLst>
          </a:custGeom>
          <a:blipFill>
            <a:blip r:embed="rId2"/>
            <a:stretch>
              <a:fillRect l="-9024" t="-5978" r="0" b="-5978"/>
            </a:stretch>
          </a:blipFill>
        </p:spPr>
      </p:sp>
      <p:sp>
        <p:nvSpPr>
          <p:cNvPr name="TextBox 3" id="3"/>
          <p:cNvSpPr txBox="true"/>
          <p:nvPr/>
        </p:nvSpPr>
        <p:spPr>
          <a:xfrm rot="0">
            <a:off x="469374" y="3151011"/>
            <a:ext cx="7373402" cy="2062087"/>
          </a:xfrm>
          <a:prstGeom prst="rect">
            <a:avLst/>
          </a:prstGeom>
        </p:spPr>
        <p:txBody>
          <a:bodyPr anchor="t" rtlCol="false" tIns="0" lIns="0" bIns="0" rIns="0">
            <a:spAutoFit/>
          </a:bodyPr>
          <a:lstStyle/>
          <a:p>
            <a:pPr algn="ctr">
              <a:lnSpc>
                <a:spcPts val="15111"/>
              </a:lnSpc>
              <a:spcBef>
                <a:spcPct val="0"/>
              </a:spcBef>
            </a:pPr>
            <a:r>
              <a:rPr lang="en-US" sz="11623">
                <a:solidFill>
                  <a:srgbClr val="000000"/>
                </a:solidFill>
                <a:latin typeface="Codec Pro"/>
                <a:ea typeface="Codec Pro"/>
                <a:cs typeface="Codec Pro"/>
                <a:sym typeface="Codec Pro"/>
              </a:rPr>
              <a:t>MACROS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5F7F1"/>
        </a:solidFill>
      </p:bgPr>
    </p:bg>
    <p:spTree>
      <p:nvGrpSpPr>
        <p:cNvPr id="1" name=""/>
        <p:cNvGrpSpPr/>
        <p:nvPr/>
      </p:nvGrpSpPr>
      <p:grpSpPr>
        <a:xfrm>
          <a:off x="0" y="0"/>
          <a:ext cx="0" cy="0"/>
          <a:chOff x="0" y="0"/>
          <a:chExt cx="0" cy="0"/>
        </a:xfrm>
      </p:grpSpPr>
      <p:grpSp>
        <p:nvGrpSpPr>
          <p:cNvPr name="Group 2" id="2"/>
          <p:cNvGrpSpPr/>
          <p:nvPr/>
        </p:nvGrpSpPr>
        <p:grpSpPr>
          <a:xfrm rot="0">
            <a:off x="0" y="0"/>
            <a:ext cx="7858125" cy="10287000"/>
            <a:chOff x="0" y="0"/>
            <a:chExt cx="1031988" cy="1350966"/>
          </a:xfrm>
        </p:grpSpPr>
        <p:sp>
          <p:nvSpPr>
            <p:cNvPr name="Freeform 3" id="3"/>
            <p:cNvSpPr/>
            <p:nvPr/>
          </p:nvSpPr>
          <p:spPr>
            <a:xfrm flipH="false" flipV="false" rot="0">
              <a:off x="0" y="0"/>
              <a:ext cx="1031988" cy="1350966"/>
            </a:xfrm>
            <a:custGeom>
              <a:avLst/>
              <a:gdLst/>
              <a:ahLst/>
              <a:cxnLst/>
              <a:rect r="r" b="b" t="t" l="l"/>
              <a:pathLst>
                <a:path h="1350966" w="1031988">
                  <a:moveTo>
                    <a:pt x="0" y="0"/>
                  </a:moveTo>
                  <a:lnTo>
                    <a:pt x="1031988" y="0"/>
                  </a:lnTo>
                  <a:lnTo>
                    <a:pt x="1031988" y="1350966"/>
                  </a:lnTo>
                  <a:lnTo>
                    <a:pt x="0" y="1350966"/>
                  </a:lnTo>
                  <a:close/>
                </a:path>
              </a:pathLst>
            </a:custGeom>
            <a:solidFill>
              <a:srgbClr val="A2B88F"/>
            </a:solidFill>
            <a:ln w="12700">
              <a:solidFill>
                <a:srgbClr val="000000"/>
              </a:solidFill>
            </a:ln>
          </p:spPr>
        </p:sp>
      </p:grpSp>
      <p:grpSp>
        <p:nvGrpSpPr>
          <p:cNvPr name="Group 4" id="4"/>
          <p:cNvGrpSpPr/>
          <p:nvPr/>
        </p:nvGrpSpPr>
        <p:grpSpPr>
          <a:xfrm rot="0">
            <a:off x="1052512" y="666750"/>
            <a:ext cx="5753100" cy="8953500"/>
            <a:chOff x="0" y="0"/>
            <a:chExt cx="814724" cy="1267949"/>
          </a:xfrm>
        </p:grpSpPr>
        <p:sp>
          <p:nvSpPr>
            <p:cNvPr name="Freeform 5" id="5"/>
            <p:cNvSpPr/>
            <p:nvPr/>
          </p:nvSpPr>
          <p:spPr>
            <a:xfrm flipH="false" flipV="false" rot="0">
              <a:off x="0" y="0"/>
              <a:ext cx="814724" cy="1267949"/>
            </a:xfrm>
            <a:custGeom>
              <a:avLst/>
              <a:gdLst/>
              <a:ahLst/>
              <a:cxnLst/>
              <a:rect r="r" b="b" t="t" l="l"/>
              <a:pathLst>
                <a:path h="1267949" w="814724">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l="0" t="-199" r="0" b="-199"/>
              </a:stretch>
            </a:blipFill>
          </p:spPr>
        </p:sp>
      </p:grpSp>
      <p:sp>
        <p:nvSpPr>
          <p:cNvPr name="TextBox 6" id="6"/>
          <p:cNvSpPr txBox="true"/>
          <p:nvPr/>
        </p:nvSpPr>
        <p:spPr>
          <a:xfrm rot="0">
            <a:off x="9303759" y="942975"/>
            <a:ext cx="8317491" cy="1999134"/>
          </a:xfrm>
          <a:prstGeom prst="rect">
            <a:avLst/>
          </a:prstGeom>
        </p:spPr>
        <p:txBody>
          <a:bodyPr anchor="t" rtlCol="false" tIns="0" lIns="0" bIns="0" rIns="0">
            <a:spAutoFit/>
          </a:bodyPr>
          <a:lstStyle/>
          <a:p>
            <a:pPr algn="l" marL="0" indent="0" lvl="0">
              <a:lnSpc>
                <a:spcPts val="14956"/>
              </a:lnSpc>
            </a:pPr>
            <a:r>
              <a:rPr lang="en-US" sz="14956" spc="-523">
                <a:solidFill>
                  <a:srgbClr val="5A6A45"/>
                </a:solidFill>
                <a:latin typeface="Georgia Pro Condensed"/>
                <a:ea typeface="Georgia Pro Condensed"/>
                <a:cs typeface="Georgia Pro Condensed"/>
                <a:sym typeface="Georgia Pro Condensed"/>
              </a:rPr>
              <a:t>Thank You</a:t>
            </a:r>
          </a:p>
        </p:txBody>
      </p:sp>
      <p:sp>
        <p:nvSpPr>
          <p:cNvPr name="Freeform 7" id="7"/>
          <p:cNvSpPr/>
          <p:nvPr/>
        </p:nvSpPr>
        <p:spPr>
          <a:xfrm flipH="false" flipV="false" rot="-3117037">
            <a:off x="5418783" y="7952721"/>
            <a:ext cx="2112604" cy="1859092"/>
          </a:xfrm>
          <a:custGeom>
            <a:avLst/>
            <a:gdLst/>
            <a:ahLst/>
            <a:cxnLst/>
            <a:rect r="r" b="b" t="t" l="l"/>
            <a:pathLst>
              <a:path h="1859092" w="2112604">
                <a:moveTo>
                  <a:pt x="0" y="0"/>
                </a:moveTo>
                <a:lnTo>
                  <a:pt x="2112604" y="0"/>
                </a:lnTo>
                <a:lnTo>
                  <a:pt x="2112604" y="1859092"/>
                </a:lnTo>
                <a:lnTo>
                  <a:pt x="0" y="18590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Customer Personality Analysis</dc:description>
  <dc:identifier>DAG5sum4FWE</dc:identifier>
  <dcterms:modified xsi:type="dcterms:W3CDTF">2011-08-01T06:04:30Z</dcterms:modified>
  <cp:revision>1</cp:revision>
  <dc:title>working project</dc:title>
</cp:coreProperties>
</file>